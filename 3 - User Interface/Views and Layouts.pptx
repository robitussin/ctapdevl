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4"/>
    <p:sldMasterId id="2147483686" r:id="rId5"/>
  </p:sldMasterIdLst>
  <p:notesMasterIdLst>
    <p:notesMasterId r:id="rId38"/>
  </p:notesMasterIdLst>
  <p:sldIdLst>
    <p:sldId id="285" r:id="rId6"/>
    <p:sldId id="258" r:id="rId7"/>
    <p:sldId id="260" r:id="rId8"/>
    <p:sldId id="261" r:id="rId9"/>
    <p:sldId id="329" r:id="rId10"/>
    <p:sldId id="330" r:id="rId11"/>
    <p:sldId id="328" r:id="rId12"/>
    <p:sldId id="331" r:id="rId13"/>
    <p:sldId id="300" r:id="rId14"/>
    <p:sldId id="345" r:id="rId15"/>
    <p:sldId id="264" r:id="rId16"/>
    <p:sldId id="287" r:id="rId17"/>
    <p:sldId id="333" r:id="rId18"/>
    <p:sldId id="332" r:id="rId19"/>
    <p:sldId id="339" r:id="rId20"/>
    <p:sldId id="334" r:id="rId21"/>
    <p:sldId id="337" r:id="rId22"/>
    <p:sldId id="336" r:id="rId23"/>
    <p:sldId id="340" r:id="rId24"/>
    <p:sldId id="341" r:id="rId25"/>
    <p:sldId id="343" r:id="rId26"/>
    <p:sldId id="342" r:id="rId27"/>
    <p:sldId id="344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306" r:id="rId36"/>
    <p:sldId id="286" r:id="rId37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9"/>
      <p:bold r:id="rId40"/>
      <p:italic r:id="rId41"/>
      <p:boldItalic r:id="rId42"/>
    </p:embeddedFont>
    <p:embeddedFont>
      <p:font typeface="Open Sans" panose="020B0606030504020204" pitchFamily="34" charset="0"/>
      <p:regular r:id="rId43"/>
      <p:bold r:id="rId44"/>
      <p:italic r:id="rId45"/>
      <p:boldItalic r:id="rId46"/>
    </p:embeddedFont>
    <p:embeddedFont>
      <p:font typeface="Roboto" panose="02000000000000000000" pitchFamily="2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80"/>
    <p:restoredTop sz="94651"/>
  </p:normalViewPr>
  <p:slideViewPr>
    <p:cSldViewPr snapToGrid="0">
      <p:cViewPr varScale="1">
        <p:scale>
          <a:sx n="97" d="100"/>
          <a:sy n="97" d="100"/>
        </p:scale>
        <p:origin x="72" y="17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font" Target="fonts/font1.fntdata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font" Target="fonts/font6.fntdata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slide" Target="slides/slide3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5.xml"/><Relationship Id="rId41" Type="http://schemas.openxmlformats.org/officeDocument/2006/relationships/font" Target="fonts/font3.fntdata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16d7d9d49_3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116d7d9d49_3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804c611ed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804c611ed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8fbd4b12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8fbd4b12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F06986A1-5CA8-EA3D-8C3E-D0B0AB97E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E4CB2FAB-8757-A075-66D3-3F65E75B8B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9DB9AD5D-65B7-43F1-2678-7E9FC293B6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3876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ADB1465D-8E84-6FB0-B2BF-2198171E0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854FE10A-546A-046D-768D-4E9A3CEEA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EF7A8309-6923-1F23-B281-D643CE9CA0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49335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c6fdbee6f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2c6fdbee6f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7f5765591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7f5765591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3F349D63-5C7F-E648-17AB-06EEB0AF8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C2B9A2D7-2EBD-CACD-0FA4-75AF2F10AA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9663DEFD-81AE-FE2F-26EA-9C6649C9AB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81320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03034EB7-763D-904E-8E2A-39187E2EB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FB66088D-9586-2F67-E72B-7B488AAFA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21E894C2-28D1-6611-6B11-851FD2957C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42944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099CA464-4FC9-5EBD-C734-9032711EE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6EE5521C-3A65-88CF-AE84-8602775663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C761E837-BCFE-DFF7-7D1A-7967F0AC65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9453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>
          <a:extLst>
            <a:ext uri="{FF2B5EF4-FFF2-40B4-BE49-F238E27FC236}">
              <a16:creationId xmlns:a16="http://schemas.microsoft.com/office/drawing/2014/main" id="{7282F79A-13BB-E9F9-D98E-22DD60C36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7f5765591_0_76:notes">
            <a:extLst>
              <a:ext uri="{FF2B5EF4-FFF2-40B4-BE49-F238E27FC236}">
                <a16:creationId xmlns:a16="http://schemas.microsoft.com/office/drawing/2014/main" id="{79E8CCF5-524A-B1E5-57F1-969B8BD238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7f5765591_0_76:notes">
            <a:extLst>
              <a:ext uri="{FF2B5EF4-FFF2-40B4-BE49-F238E27FC236}">
                <a16:creationId xmlns:a16="http://schemas.microsoft.com/office/drawing/2014/main" id="{860852F4-B603-8C80-09A7-A96868DEA0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19422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A26F953E-3A71-6C24-1644-4FCBDE83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A5D3B3C7-DA96-9ED4-6638-1AB20A69C7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1B2C8B2B-873F-FD9C-748C-818FA4E10C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9965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FED2DFFC-1DDB-FB8E-E6D0-7D08F3495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6918D23A-2FA4-8558-79D5-29D357AE3F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FBD59443-F541-131A-0A59-870B1C2EBA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47391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5605843D-E7E9-63A5-72A3-0886C0BA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3f6e2c19_0_0:notes">
            <a:extLst>
              <a:ext uri="{FF2B5EF4-FFF2-40B4-BE49-F238E27FC236}">
                <a16:creationId xmlns:a16="http://schemas.microsoft.com/office/drawing/2014/main" id="{196BF4C5-F335-0E63-6356-F827B0532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3f6e2c19_0_0:notes">
            <a:extLst>
              <a:ext uri="{FF2B5EF4-FFF2-40B4-BE49-F238E27FC236}">
                <a16:creationId xmlns:a16="http://schemas.microsoft.com/office/drawing/2014/main" id="{06F7B741-FCA3-7F53-D1B5-CB121EA4D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51904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c6fdbee6f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c6fdbee6f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c6fdbee6f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c6fdbee6f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c6fdbee6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2c6fdbee6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1950c00df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1950c00df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c6fdbee6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2c6fdbee6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c6fdbee6f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2c6fdbee6f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c6fdbee6f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c6fdbee6f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2c6fdbee6f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2c6fdbee6f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841430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creativecommons.org/licenses/by-nc/4.0/" TargetMode="Externa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marL="914400" lvl="1" indent="-355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2" descr="footer.png"/>
          <p:cNvPicPr preferRelativeResize="0"/>
          <p:nvPr/>
        </p:nvPicPr>
        <p:blipFill rotWithShape="1">
          <a:blip r:embed="rId3">
            <a:alphaModFix/>
          </a:blip>
          <a:srcRect l="28117" t="89810"/>
          <a:stretch/>
        </p:blipFill>
        <p:spPr>
          <a:xfrm>
            <a:off x="0" y="4629149"/>
            <a:ext cx="9144000" cy="5241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5" name="Google Shape;65;p12"/>
          <p:cNvSpPr txBox="1">
            <a:spLocks noGrp="1"/>
          </p:cNvSpPr>
          <p:nvPr>
            <p:ph type="sldNum" idx="3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2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AF5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>
            <a:spLocks noGrp="1"/>
          </p:cNvSpPr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sz="5200" b="1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0" name="Google Shape;150;p28"/>
          <p:cNvSpPr txBox="1">
            <a:spLocks noGrp="1"/>
          </p:cNvSpPr>
          <p:nvPr>
            <p:ph type="subTitle" idx="1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1" name="Google Shape;151;p2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4CAF50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>
            <a:spLocks noGrp="1"/>
          </p:cNvSpPr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4" name="Google Shape;154;p2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0"/>
          <p:cNvSpPr txBox="1">
            <a:spLocks noGrp="1"/>
          </p:cNvSpPr>
          <p:nvPr>
            <p:ph type="body" idx="1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  <a:defRPr>
                <a:solidFill>
                  <a:srgbClr val="000000"/>
                </a:solidFill>
              </a:defRPr>
            </a:lvl1pPr>
            <a:lvl2pPr marL="914400" lvl="1" indent="-3556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AutoNum type="alphaLcPeriod"/>
              <a:defRPr sz="2000">
                <a:solidFill>
                  <a:srgbClr val="000000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  <a:defRPr>
                <a:solidFill>
                  <a:srgbClr val="000000"/>
                </a:solidFill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lphaLcPeriod"/>
              <a:defRPr>
                <a:solidFill>
                  <a:srgbClr val="000000"/>
                </a:solidFill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3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>
            <a:spLocks noGrp="1"/>
          </p:cNvSpPr>
          <p:nvPr>
            <p:ph type="body" idx="1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body" idx="2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31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" name="Google Shape;168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32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2" name="Google Shape;172;p3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73" name="Google Shape;173;p3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6" name="Google Shape;176;p3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0" name="Google Shape;180;p3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81" name="Google Shape;181;p3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35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6"/>
          <p:cNvSpPr txBox="1">
            <a:spLocks noGrp="1"/>
          </p:cNvSpPr>
          <p:nvPr>
            <p:ph type="body" idx="1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185" name="Google Shape;185;p3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8" name="Google Shape;188;p3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9" name="Google Shape;189;p3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8" descr="Android-Developer-Cover.jp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8" descr="footer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8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38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38"/>
          <p:cNvSpPr txBox="1">
            <a:spLocks noGrp="1"/>
          </p:cNvSpPr>
          <p:nvPr>
            <p:ph type="sldNum" idx="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6" name="Google Shape;196;p38"/>
          <p:cNvSpPr txBox="1">
            <a:spLocks noGrp="1"/>
          </p:cNvSpPr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7" name="Google Shape;197;p38"/>
          <p:cNvSpPr txBox="1">
            <a:spLocks noGrp="1"/>
          </p:cNvSpPr>
          <p:nvPr>
            <p:ph type="subTitle" idx="1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8" name="Google Shape;198;p38"/>
          <p:cNvSpPr txBox="1">
            <a:spLocks noGrp="1"/>
          </p:cNvSpPr>
          <p:nvPr>
            <p:ph type="sldNum" idx="3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9" name="Google Shape;199;p38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200" name="Google Shape;20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8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Attribution-NonCommercial 4.0 International License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0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hyperlink" Target="https://creativecommons.org/licenses/by/4.0/" TargetMode="Externa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footer.png"/>
          <p:cNvPicPr preferRelativeResize="0"/>
          <p:nvPr/>
        </p:nvPicPr>
        <p:blipFill rotWithShape="1">
          <a:blip r:embed="rId10">
            <a:alphaModFix/>
          </a:blip>
          <a:srcRect l="26683" t="88828"/>
          <a:stretch/>
        </p:blipFill>
        <p:spPr>
          <a:xfrm>
            <a:off x="0" y="4568874"/>
            <a:ext cx="9144000" cy="5746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7" r:id="rId7"/>
    <p:sldLayoutId id="214748365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7" descr="footer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sz="3600" b="1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2279675" y="4783500"/>
            <a:ext cx="23826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lang="en" sz="900" i="1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 4.0 International License</a:t>
            </a:r>
            <a:r>
              <a:rPr lang="en" sz="900" i="1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i="1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 b="1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ndroid.com/develop/ui/views/layout/declaring-layout" TargetMode="External"/><Relationship Id="rId2" Type="http://schemas.openxmlformats.org/officeDocument/2006/relationships/hyperlink" Target="https://adapty.io/blog/android-layouts-and-views/#:~:text=In%20Android%2C%20a%20View%20(%20public,display%20components%20in%20an%20app" TargetMode="Externa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11" name="Google Shape;211;p40"/>
          <p:cNvSpPr txBox="1">
            <a:spLocks noGrp="1"/>
          </p:cNvSpPr>
          <p:nvPr>
            <p:ph type="sldNum" idx="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12" name="Google Shape;212;p40"/>
          <p:cNvSpPr txBox="1">
            <a:spLocks noGrp="1"/>
          </p:cNvSpPr>
          <p:nvPr>
            <p:ph type="title"/>
          </p:nvPr>
        </p:nvSpPr>
        <p:spPr>
          <a:xfrm>
            <a:off x="195700" y="1061872"/>
            <a:ext cx="4045200" cy="194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3600" dirty="0"/>
              <a:t>Views and Layouts</a:t>
            </a:r>
            <a:endParaRPr sz="3600" dirty="0"/>
          </a:p>
        </p:txBody>
      </p:sp>
      <p:sp>
        <p:nvSpPr>
          <p:cNvPr id="213" name="Google Shape;213;p40"/>
          <p:cNvSpPr txBox="1">
            <a:spLocks noGrp="1"/>
          </p:cNvSpPr>
          <p:nvPr>
            <p:ph type="sldNum" idx="3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14" name="Google Shape;214;p40"/>
          <p:cNvSpPr txBox="1">
            <a:spLocks noGrp="1"/>
          </p:cNvSpPr>
          <p:nvPr>
            <p:ph type="subTitle" idx="4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CTAPDEVL</a:t>
            </a:r>
            <a:endParaRPr dirty="0"/>
          </a:p>
        </p:txBody>
      </p:sp>
      <p:sp>
        <p:nvSpPr>
          <p:cNvPr id="215" name="Google Shape;215;p40"/>
          <p:cNvSpPr txBox="1"/>
          <p:nvPr/>
        </p:nvSpPr>
        <p:spPr>
          <a:xfrm>
            <a:off x="265500" y="3497901"/>
            <a:ext cx="4045200" cy="10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Prepared by: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Elizer Ponio Jr.</a:t>
            </a:r>
            <a:endParaRPr dirty="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6" name="Google Shape;226;p42"/>
          <p:cNvSpPr txBox="1">
            <a:spLocks noGrp="1"/>
          </p:cNvSpPr>
          <p:nvPr>
            <p:ph type="body" idx="1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PH" dirty="0"/>
              <a:t>What is an Android View?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PH" dirty="0"/>
              <a:t>Organizing Views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-PH" dirty="0"/>
              <a:t>Layout </a:t>
            </a:r>
          </a:p>
        </p:txBody>
      </p:sp>
      <p:sp>
        <p:nvSpPr>
          <p:cNvPr id="227" name="Google Shape;227;p4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4"/>
          <p:cNvSpPr txBox="1">
            <a:spLocks noGrp="1"/>
          </p:cNvSpPr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an Android View?</a:t>
            </a:r>
            <a:endParaRPr dirty="0"/>
          </a:p>
        </p:txBody>
      </p:sp>
      <p:sp>
        <p:nvSpPr>
          <p:cNvPr id="240" name="Google Shape;240;p4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What is an Android View?</a:t>
            </a:r>
            <a:endParaRPr dirty="0"/>
          </a:p>
        </p:txBody>
      </p:sp>
      <p:sp>
        <p:nvSpPr>
          <p:cNvPr id="246" name="Google Shape;246;p4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47" name="Google Shape;247;p45"/>
          <p:cNvSpPr txBox="1"/>
          <p:nvPr/>
        </p:nvSpPr>
        <p:spPr>
          <a:xfrm>
            <a:off x="253168" y="1300160"/>
            <a:ext cx="4375659" cy="31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500" dirty="0"/>
              <a:t>In Android, a </a:t>
            </a:r>
            <a:r>
              <a:rPr lang="en-US" sz="2500" b="1" dirty="0">
                <a:solidFill>
                  <a:srgbClr val="00B050"/>
                </a:solidFill>
              </a:rPr>
              <a:t>View</a:t>
            </a:r>
            <a:r>
              <a:rPr lang="en-US" sz="2500" dirty="0"/>
              <a:t> is the basic building block for creating UI components. </a:t>
            </a:r>
          </a:p>
        </p:txBody>
      </p:sp>
      <p:pic>
        <p:nvPicPr>
          <p:cNvPr id="10" name="Picture 9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EA146379-75E7-96E1-67DC-B071F1C3DC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696"/>
          <a:stretch/>
        </p:blipFill>
        <p:spPr>
          <a:xfrm>
            <a:off x="4628827" y="1251503"/>
            <a:ext cx="4306017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82CA1756-C064-9270-D685-DF042D9E3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85624EB8-03A5-9061-73C0-549F2A0C7C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What is an Android View?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A42FB7AC-9BA8-19A1-6655-4E49ED5485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0D734E44-CC98-24E4-460F-023209BDDD87}"/>
              </a:ext>
            </a:extLst>
          </p:cNvPr>
          <p:cNvSpPr txBox="1"/>
          <p:nvPr/>
        </p:nvSpPr>
        <p:spPr>
          <a:xfrm>
            <a:off x="253168" y="1300160"/>
            <a:ext cx="4375659" cy="31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500" b="1" dirty="0">
                <a:solidFill>
                  <a:srgbClr val="00B050"/>
                </a:solidFill>
              </a:rPr>
              <a:t>Views</a:t>
            </a:r>
            <a:r>
              <a:rPr lang="en-US" sz="2500" dirty="0"/>
              <a:t> are UI components that can can display content or respond to user interactions. </a:t>
            </a:r>
          </a:p>
        </p:txBody>
      </p:sp>
      <p:pic>
        <p:nvPicPr>
          <p:cNvPr id="10" name="Picture 9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3AB02ED8-C92F-000F-9EA4-647CE4A03D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696"/>
          <a:stretch/>
        </p:blipFill>
        <p:spPr>
          <a:xfrm>
            <a:off x="4628827" y="1251503"/>
            <a:ext cx="4306017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43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43B1CD33-7E54-96C4-70AC-85F100DB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9FB7162A-4ACC-5E86-6A35-7C8C173940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What is an Android View?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E43F3EA5-FCB2-7E09-9A84-45BC644765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326137F1-2384-DC82-04F9-4995193DB89F}"/>
              </a:ext>
            </a:extLst>
          </p:cNvPr>
          <p:cNvSpPr txBox="1"/>
          <p:nvPr/>
        </p:nvSpPr>
        <p:spPr>
          <a:xfrm>
            <a:off x="253168" y="1300160"/>
            <a:ext cx="4375659" cy="314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500" dirty="0"/>
              <a:t>Each </a:t>
            </a:r>
            <a:r>
              <a:rPr lang="en-US" sz="2500" b="1" dirty="0">
                <a:solidFill>
                  <a:srgbClr val="00B050"/>
                </a:solidFill>
              </a:rPr>
              <a:t>View</a:t>
            </a:r>
            <a:r>
              <a:rPr lang="en-US" sz="2500" dirty="0"/>
              <a:t> is a fundamental element for creating various types of interactive and display components in an app.</a:t>
            </a:r>
          </a:p>
        </p:txBody>
      </p:sp>
      <p:pic>
        <p:nvPicPr>
          <p:cNvPr id="10" name="Picture 9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E8E5FC0B-DE8A-57BB-3640-AB6903F6B9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4696"/>
          <a:stretch/>
        </p:blipFill>
        <p:spPr>
          <a:xfrm>
            <a:off x="4628827" y="1251503"/>
            <a:ext cx="4306017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49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EF3BC-AC82-D2FE-74FA-31542C898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Types of Views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7BD61-BF34-FFD2-8DD0-E956F2DAC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1" y="1076275"/>
            <a:ext cx="4611594" cy="3416400"/>
          </a:xfrm>
        </p:spPr>
        <p:txBody>
          <a:bodyPr/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PH" sz="1800" dirty="0"/>
              <a:t>Basic types of Views include: </a:t>
            </a:r>
          </a:p>
          <a:p>
            <a:pPr marL="3619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PH" sz="1800" b="1" dirty="0" err="1">
                <a:latin typeface="Consolas" panose="020B0609020204030204" pitchFamily="49" charset="0"/>
              </a:rPr>
              <a:t>TextView</a:t>
            </a:r>
            <a:r>
              <a:rPr lang="en-PH" sz="1800" dirty="0"/>
              <a:t> to display text </a:t>
            </a:r>
          </a:p>
          <a:p>
            <a:pPr marL="3619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PH" sz="1800" b="1" dirty="0" err="1">
                <a:latin typeface="Consolas" panose="020B0609020204030204" pitchFamily="49" charset="0"/>
              </a:rPr>
              <a:t>EditText</a:t>
            </a:r>
            <a:r>
              <a:rPr lang="en-PH" sz="1800" dirty="0"/>
              <a:t> allows user to input and edit text</a:t>
            </a:r>
          </a:p>
          <a:p>
            <a:pPr marL="3619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PH" sz="1800" b="1" dirty="0">
                <a:latin typeface="Consolas" panose="020B0609020204030204" pitchFamily="49" charset="0"/>
              </a:rPr>
              <a:t>Buttons</a:t>
            </a:r>
            <a:r>
              <a:rPr lang="en-PH" sz="1800" dirty="0"/>
              <a:t> to trigger an event</a:t>
            </a:r>
          </a:p>
          <a:p>
            <a:pPr marL="3619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PH" sz="1800" b="1" dirty="0" err="1">
                <a:latin typeface="Consolas" panose="020B0609020204030204" pitchFamily="49" charset="0"/>
              </a:rPr>
              <a:t>ImageView</a:t>
            </a:r>
            <a:r>
              <a:rPr lang="en-PH" sz="1800" dirty="0"/>
              <a:t> for displaying images</a:t>
            </a:r>
          </a:p>
          <a:p>
            <a:pPr marL="3619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PH" sz="1800" b="1" dirty="0" err="1">
                <a:latin typeface="Consolas" panose="020B0609020204030204" pitchFamily="49" charset="0"/>
              </a:rPr>
              <a:t>CheckBox</a:t>
            </a:r>
            <a:r>
              <a:rPr lang="en-PH" sz="1800" dirty="0"/>
              <a:t> for making selections</a:t>
            </a:r>
          </a:p>
          <a:p>
            <a:pPr marL="361950" lvl="0" indent="-285750" algn="l" rtl="0">
              <a:spcBef>
                <a:spcPts val="10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PH" sz="1800" b="1" dirty="0" err="1">
                <a:latin typeface="Consolas" panose="020B0609020204030204" pitchFamily="49" charset="0"/>
              </a:rPr>
              <a:t>RadioButton</a:t>
            </a:r>
            <a:r>
              <a:rPr lang="en-PH" sz="1800" dirty="0"/>
              <a:t> for making selections</a:t>
            </a:r>
          </a:p>
          <a:p>
            <a:pPr marL="76200" indent="0">
              <a:buNone/>
            </a:pPr>
            <a:endParaRPr lang="en-PH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6B53F8-586F-E158-0A7E-A66D20380FE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5" name="Picture 4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7F392BFE-CC4D-02DF-54D6-6AA2C86AE2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696"/>
          <a:stretch/>
        </p:blipFill>
        <p:spPr>
          <a:xfrm>
            <a:off x="4791341" y="1252675"/>
            <a:ext cx="4306017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77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538CF-65C3-8168-46E9-EABA0FACD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1F366-FED1-1F95-1826-F565AE828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Types of Views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655CE-69A2-5AE9-A8AF-B5CDD717BC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  <p:sp>
        <p:nvSpPr>
          <p:cNvPr id="8" name="Google Shape;389;p73">
            <a:extLst>
              <a:ext uri="{FF2B5EF4-FFF2-40B4-BE49-F238E27FC236}">
                <a16:creationId xmlns:a16="http://schemas.microsoft.com/office/drawing/2014/main" id="{278FD23D-4F55-18A5-9B39-AF6A63018F8D}"/>
              </a:ext>
            </a:extLst>
          </p:cNvPr>
          <p:cNvSpPr txBox="1"/>
          <p:nvPr/>
        </p:nvSpPr>
        <p:spPr>
          <a:xfrm>
            <a:off x="4501150" y="1485400"/>
            <a:ext cx="2223600" cy="23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CheckBox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RadioButton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endParaRPr sz="2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" name="Google Shape;390;p73">
            <a:extLst>
              <a:ext uri="{FF2B5EF4-FFF2-40B4-BE49-F238E27FC236}">
                <a16:creationId xmlns:a16="http://schemas.microsoft.com/office/drawing/2014/main" id="{3ABFC330-8004-5E66-67D7-68D108281F4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94875" y="1567025"/>
            <a:ext cx="150645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391;p73">
            <a:extLst>
              <a:ext uri="{FF2B5EF4-FFF2-40B4-BE49-F238E27FC236}">
                <a16:creationId xmlns:a16="http://schemas.microsoft.com/office/drawing/2014/main" id="{6E366C78-7E0D-5C6A-482A-12FF797D259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4875" y="2408950"/>
            <a:ext cx="231896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392;p73">
            <a:extLst>
              <a:ext uri="{FF2B5EF4-FFF2-40B4-BE49-F238E27FC236}">
                <a16:creationId xmlns:a16="http://schemas.microsoft.com/office/drawing/2014/main" id="{85C78194-1865-FAFD-76E2-7D656B3583D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4875" y="3149500"/>
            <a:ext cx="1468713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393;p73">
            <a:extLst>
              <a:ext uri="{FF2B5EF4-FFF2-40B4-BE49-F238E27FC236}">
                <a16:creationId xmlns:a16="http://schemas.microsoft.com/office/drawing/2014/main" id="{53CA89A5-BC36-5EC9-7B57-AF6F47A232B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4050" y="1485399"/>
            <a:ext cx="1506450" cy="6410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394;p73">
            <a:extLst>
              <a:ext uri="{FF2B5EF4-FFF2-40B4-BE49-F238E27FC236}">
                <a16:creationId xmlns:a16="http://schemas.microsoft.com/office/drawing/2014/main" id="{9732B890-9FB0-68A8-F3B5-202E1E08A9AF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44050" y="2408950"/>
            <a:ext cx="1506450" cy="6456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395;p73">
            <a:extLst>
              <a:ext uri="{FF2B5EF4-FFF2-40B4-BE49-F238E27FC236}">
                <a16:creationId xmlns:a16="http://schemas.microsoft.com/office/drawing/2014/main" id="{0941851A-815E-74AE-8220-530E49B09D11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44039" y="3206225"/>
            <a:ext cx="825782" cy="1087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388;p73">
            <a:extLst>
              <a:ext uri="{FF2B5EF4-FFF2-40B4-BE49-F238E27FC236}">
                <a16:creationId xmlns:a16="http://schemas.microsoft.com/office/drawing/2014/main" id="{A559D316-8540-B20D-EB95-87F34DC25FB8}"/>
              </a:ext>
            </a:extLst>
          </p:cNvPr>
          <p:cNvSpPr txBox="1"/>
          <p:nvPr/>
        </p:nvSpPr>
        <p:spPr>
          <a:xfrm>
            <a:off x="328525" y="1567025"/>
            <a:ext cx="18273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Button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EditText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latin typeface="Consolas"/>
                <a:ea typeface="Consolas"/>
                <a:cs typeface="Consolas"/>
                <a:sym typeface="Consolas"/>
              </a:rPr>
              <a:t>Slider</a:t>
            </a:r>
            <a:endParaRPr sz="240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983637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22E13-7B78-C0C0-E9B4-26346F503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D444D-8FD9-798F-007B-E590E1B31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dirty="0"/>
              <a:t>Creating Views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D53BF-E450-E7C9-CE28-76E0656BB3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  <p:sp>
        <p:nvSpPr>
          <p:cNvPr id="10" name="Google Shape;417;p76">
            <a:extLst>
              <a:ext uri="{FF2B5EF4-FFF2-40B4-BE49-F238E27FC236}">
                <a16:creationId xmlns:a16="http://schemas.microsoft.com/office/drawing/2014/main" id="{B8826BED-E82D-F650-7B73-EE5154B228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159158" y="1210361"/>
            <a:ext cx="2938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PH" sz="2000" b="1" dirty="0">
                <a:solidFill>
                  <a:schemeClr val="dk1"/>
                </a:solidFill>
              </a:rPr>
              <a:t>Palette</a:t>
            </a:r>
            <a:r>
              <a:rPr lang="en-PH" sz="2000" dirty="0">
                <a:solidFill>
                  <a:schemeClr val="dk1"/>
                </a:solidFill>
              </a:rPr>
              <a:t> pane</a:t>
            </a:r>
            <a:endParaRPr sz="2000" dirty="0">
              <a:solidFill>
                <a:schemeClr val="dk1"/>
              </a:solidFill>
            </a:endParaRPr>
          </a:p>
          <a:p>
            <a:pPr indent="-355600"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-PH" sz="2000" b="1" dirty="0">
                <a:solidFill>
                  <a:schemeClr val="dk1"/>
                </a:solidFill>
              </a:rPr>
              <a:t>Attributes</a:t>
            </a:r>
            <a:r>
              <a:rPr lang="en-PH" sz="2000" dirty="0">
                <a:solidFill>
                  <a:schemeClr val="dk1"/>
                </a:solidFill>
              </a:rPr>
              <a:t> tab</a:t>
            </a: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PH" sz="2000" b="1" dirty="0">
                <a:solidFill>
                  <a:schemeClr val="dk1"/>
                </a:solidFill>
              </a:rPr>
              <a:t>Component</a:t>
            </a:r>
            <a:r>
              <a:rPr lang="en-PH" sz="2000" dirty="0">
                <a:solidFill>
                  <a:schemeClr val="dk1"/>
                </a:solidFill>
              </a:rPr>
              <a:t> Tree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rabicPeriod"/>
            </a:pPr>
            <a:r>
              <a:rPr lang="en-PH" sz="2000" b="1" dirty="0">
                <a:solidFill>
                  <a:schemeClr val="dk1"/>
                </a:solidFill>
              </a:rPr>
              <a:t>Design</a:t>
            </a:r>
            <a:r>
              <a:rPr lang="en-PH" sz="2000" dirty="0">
                <a:solidFill>
                  <a:schemeClr val="dk1"/>
                </a:solidFill>
              </a:rPr>
              <a:t> and </a:t>
            </a:r>
            <a:r>
              <a:rPr lang="en-PH" sz="2000" b="1" dirty="0">
                <a:solidFill>
                  <a:schemeClr val="dk1"/>
                </a:solidFill>
              </a:rPr>
              <a:t>Blueprint </a:t>
            </a: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AF6A26-B5ED-E8B2-22CA-0EFF71E53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4" y="1257899"/>
            <a:ext cx="5760000" cy="313322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3" name="Graphic 22" descr="Badge 1 with solid fill">
            <a:extLst>
              <a:ext uri="{FF2B5EF4-FFF2-40B4-BE49-F238E27FC236}">
                <a16:creationId xmlns:a16="http://schemas.microsoft.com/office/drawing/2014/main" id="{0D6223B5-EB3A-1E88-0C5C-63182C123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550" y="969899"/>
            <a:ext cx="288000" cy="288000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5B817EB-7EA6-683A-7B3D-4B02EE664BED}"/>
              </a:ext>
            </a:extLst>
          </p:cNvPr>
          <p:cNvCxnSpPr>
            <a:cxnSpLocks/>
            <a:stCxn id="23" idx="2"/>
          </p:cNvCxnSpPr>
          <p:nvPr/>
        </p:nvCxnSpPr>
        <p:spPr>
          <a:xfrm>
            <a:off x="676550" y="1257899"/>
            <a:ext cx="0" cy="3571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9EEA200-D778-819B-3FA3-60CEAECD0E07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5481795" y="1257899"/>
            <a:ext cx="0" cy="3285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Graphic 26" descr="Badge with solid fill">
            <a:extLst>
              <a:ext uri="{FF2B5EF4-FFF2-40B4-BE49-F238E27FC236}">
                <a16:creationId xmlns:a16="http://schemas.microsoft.com/office/drawing/2014/main" id="{E25375F0-E636-FE7A-09A3-54A9142623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37795" y="969899"/>
            <a:ext cx="288000" cy="288000"/>
          </a:xfrm>
          <a:prstGeom prst="rect">
            <a:avLst/>
          </a:prstGeom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05E476E-28A2-AB9A-98E0-34804DDF6496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676550" y="3182969"/>
            <a:ext cx="0" cy="12081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 descr="Badge 3 with solid fill">
            <a:extLst>
              <a:ext uri="{FF2B5EF4-FFF2-40B4-BE49-F238E27FC236}">
                <a16:creationId xmlns:a16="http://schemas.microsoft.com/office/drawing/2014/main" id="{5FC6CB57-6A59-B2C9-058C-3065F8018B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2550" y="4391123"/>
            <a:ext cx="288000" cy="288000"/>
          </a:xfrm>
          <a:prstGeom prst="rect">
            <a:avLst/>
          </a:prstGeom>
        </p:spPr>
      </p:pic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5DAB9F1-38CA-C7BA-7CB7-8800DAE2716E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3489854" y="3440709"/>
            <a:ext cx="0" cy="95041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aphic 43" descr="Badge 4 with solid fill">
            <a:extLst>
              <a:ext uri="{FF2B5EF4-FFF2-40B4-BE49-F238E27FC236}">
                <a16:creationId xmlns:a16="http://schemas.microsoft.com/office/drawing/2014/main" id="{6B159695-2B5A-2234-D3A2-A2EFCCD589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45854" y="4391123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18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98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Layout editor main toolbar</a:t>
            </a:r>
            <a:endParaRPr/>
          </a:p>
        </p:txBody>
      </p:sp>
      <p:sp>
        <p:nvSpPr>
          <p:cNvPr id="595" name="Google Shape;595;p9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596" name="Google Shape;596;p98"/>
          <p:cNvSpPr txBox="1">
            <a:spLocks noGrp="1"/>
          </p:cNvSpPr>
          <p:nvPr>
            <p:ph type="body" idx="1"/>
          </p:nvPr>
        </p:nvSpPr>
        <p:spPr>
          <a:xfrm>
            <a:off x="311700" y="1816450"/>
            <a:ext cx="8520600" cy="28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Select Design Surface: Design and Blueprint panes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Orientation in Editor: Portrait and Landscape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Device in Editor: Choose device for preview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API Version in Editor: Choose API for preview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Theme in Editor: Choose theme for preview </a:t>
            </a:r>
            <a:endParaRPr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Locale in Editor: Choose language/locale for preview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7" name="Google Shape;59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713" y="1089675"/>
            <a:ext cx="6798575" cy="78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/>
          <p:cNvSpPr txBox="1">
            <a:spLocks noGrp="1"/>
          </p:cNvSpPr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Organizing Views</a:t>
            </a:r>
            <a:endParaRPr dirty="0"/>
          </a:p>
        </p:txBody>
      </p:sp>
      <p:sp>
        <p:nvSpPr>
          <p:cNvPr id="268" name="Google Shape;268;p48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BF54F62A-E453-9141-BE29-88FDFFBA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2635264A-F6BF-7650-04B1-F3DCFCCCD1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ViewGroup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0D174DA7-AD08-A2FE-EC2E-BB27F13D9D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1AF67411-DF68-FBE1-EE5B-C3E6F4B2452A}"/>
              </a:ext>
            </a:extLst>
          </p:cNvPr>
          <p:cNvSpPr txBox="1"/>
          <p:nvPr/>
        </p:nvSpPr>
        <p:spPr>
          <a:xfrm>
            <a:off x="362349" y="1393150"/>
            <a:ext cx="4467955" cy="309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600" dirty="0"/>
              <a:t>A </a:t>
            </a:r>
            <a:r>
              <a:rPr lang="en-US" sz="2600" b="1" dirty="0" err="1">
                <a:solidFill>
                  <a:srgbClr val="00B050"/>
                </a:solidFill>
              </a:rPr>
              <a:t>ViewGroup</a:t>
            </a:r>
            <a:r>
              <a:rPr lang="en-US" sz="2600" dirty="0"/>
              <a:t> is a special view that can contain other views.</a:t>
            </a:r>
          </a:p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endParaRPr lang="en-US" sz="2600" dirty="0"/>
          </a:p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600" dirty="0"/>
              <a:t>It can hold together Views or even other </a:t>
            </a:r>
            <a:r>
              <a:rPr lang="en-US" sz="2600" dirty="0" err="1"/>
              <a:t>ViewGroups</a:t>
            </a:r>
            <a:r>
              <a:rPr lang="en-US" sz="2600" dirty="0"/>
              <a:t>.</a:t>
            </a:r>
          </a:p>
        </p:txBody>
      </p:sp>
      <p:pic>
        <p:nvPicPr>
          <p:cNvPr id="18" name="Picture 17" descr="A diagram of a company&#10;&#10;AI-generated content may be incorrect.">
            <a:extLst>
              <a:ext uri="{FF2B5EF4-FFF2-40B4-BE49-F238E27FC236}">
                <a16:creationId xmlns:a16="http://schemas.microsoft.com/office/drawing/2014/main" id="{0F0483C4-3412-0682-BC6D-D44FBFB0DF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276" y="2041246"/>
            <a:ext cx="3850268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752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059E6D1F-28BC-448E-C9B5-A8689F0FB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169B7509-A855-77FE-7C14-583F0E6449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ViewGroup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68F59415-2E33-B86C-3A7D-FCC6D96BFC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3D6E5EA2-AF98-14E5-8721-CDE4DC380E5B}"/>
              </a:ext>
            </a:extLst>
          </p:cNvPr>
          <p:cNvSpPr txBox="1"/>
          <p:nvPr/>
        </p:nvSpPr>
        <p:spPr>
          <a:xfrm>
            <a:off x="362349" y="1393150"/>
            <a:ext cx="4467955" cy="309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600" dirty="0"/>
              <a:t>It is essentially a way to combine different Views, allowing for more complex and organized layouts in your app. </a:t>
            </a:r>
          </a:p>
        </p:txBody>
      </p:sp>
      <p:pic>
        <p:nvPicPr>
          <p:cNvPr id="18" name="Picture 17" descr="A diagram of a company&#10;&#10;AI-generated content may be incorrect.">
            <a:extLst>
              <a:ext uri="{FF2B5EF4-FFF2-40B4-BE49-F238E27FC236}">
                <a16:creationId xmlns:a16="http://schemas.microsoft.com/office/drawing/2014/main" id="{9CC2C96C-871A-D630-3FAC-FC1113543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276" y="2041246"/>
            <a:ext cx="3850268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725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87CF0492-50B6-3F0F-BDCD-C584275E8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420CB2B7-AC90-5602-FD44-7D561733A8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View and ViewGroup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524F10F1-EC1A-5CF5-5673-94145DD3A0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AA07661D-85CD-9874-30E2-B967198B067C}"/>
              </a:ext>
            </a:extLst>
          </p:cNvPr>
          <p:cNvSpPr txBox="1"/>
          <p:nvPr/>
        </p:nvSpPr>
        <p:spPr>
          <a:xfrm>
            <a:off x="362349" y="1393150"/>
            <a:ext cx="4467955" cy="309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200" dirty="0"/>
              <a:t>A View is a basic UI element that is meant to be displayed on the screen.</a:t>
            </a:r>
          </a:p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endParaRPr lang="en-US" sz="2200" dirty="0"/>
          </a:p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n-US" sz="2200" dirty="0"/>
              <a:t>A </a:t>
            </a:r>
            <a:r>
              <a:rPr lang="en-US" sz="2200" b="1" dirty="0" err="1">
                <a:solidFill>
                  <a:srgbClr val="00B050"/>
                </a:solidFill>
              </a:rPr>
              <a:t>ViewGroup</a:t>
            </a:r>
            <a:r>
              <a:rPr lang="en-US" sz="2200" b="1" dirty="0">
                <a:solidFill>
                  <a:srgbClr val="00B050"/>
                </a:solidFill>
              </a:rPr>
              <a:t> </a:t>
            </a:r>
            <a:r>
              <a:rPr lang="en-US" sz="2200" dirty="0"/>
              <a:t>doesn’t display any content of its own but serves as a container to organize and manage other Views.</a:t>
            </a:r>
          </a:p>
        </p:txBody>
      </p:sp>
      <p:pic>
        <p:nvPicPr>
          <p:cNvPr id="18" name="Picture 17" descr="A diagram of a company&#10;&#10;AI-generated content may be incorrect.">
            <a:extLst>
              <a:ext uri="{FF2B5EF4-FFF2-40B4-BE49-F238E27FC236}">
                <a16:creationId xmlns:a16="http://schemas.microsoft.com/office/drawing/2014/main" id="{C0E36E77-6AC5-4FF6-3491-FB9A066C4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276" y="2041246"/>
            <a:ext cx="3850268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93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>
          <a:extLst>
            <a:ext uri="{FF2B5EF4-FFF2-40B4-BE49-F238E27FC236}">
              <a16:creationId xmlns:a16="http://schemas.microsoft.com/office/drawing/2014/main" id="{5F0CCCC6-1EE2-2C38-1104-8D5BA334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8">
            <a:extLst>
              <a:ext uri="{FF2B5EF4-FFF2-40B4-BE49-F238E27FC236}">
                <a16:creationId xmlns:a16="http://schemas.microsoft.com/office/drawing/2014/main" id="{88BD7D1F-8C96-2EB2-954D-8C191CAF7FF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Layout</a:t>
            </a:r>
            <a:endParaRPr dirty="0"/>
          </a:p>
        </p:txBody>
      </p:sp>
      <p:sp>
        <p:nvSpPr>
          <p:cNvPr id="268" name="Google Shape;268;p48">
            <a:extLst>
              <a:ext uri="{FF2B5EF4-FFF2-40B4-BE49-F238E27FC236}">
                <a16:creationId xmlns:a16="http://schemas.microsoft.com/office/drawing/2014/main" id="{1C153EE9-3701-7FA9-AEE0-6AD6B55CF4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5961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88E5BEEF-65C6-467B-9DE8-DE020C0D6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E58BBD79-CFE8-7BBC-92FE-09DD1B6825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Layout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DF78E950-3295-203E-AAC6-32CC53533E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5A6FEF3B-3F6B-124C-D6A6-5F5C89140617}"/>
              </a:ext>
            </a:extLst>
          </p:cNvPr>
          <p:cNvSpPr txBox="1"/>
          <p:nvPr/>
        </p:nvSpPr>
        <p:spPr>
          <a:xfrm>
            <a:off x="362350" y="1393150"/>
            <a:ext cx="4981175" cy="309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>
              <a:spcBef>
                <a:spcPts val="1000"/>
              </a:spcBef>
              <a:buSzPts val="2400"/>
            </a:pPr>
            <a:r>
              <a:rPr lang="en-US" sz="2600" b="1" dirty="0">
                <a:solidFill>
                  <a:srgbClr val="00B050"/>
                </a:solidFill>
              </a:rPr>
              <a:t>Layouts</a:t>
            </a:r>
            <a:r>
              <a:rPr lang="en-US" sz="2600" dirty="0"/>
              <a:t> are specific types of </a:t>
            </a:r>
            <a:r>
              <a:rPr lang="en-US" sz="2600" dirty="0" err="1">
                <a:sym typeface="Consolas"/>
              </a:rPr>
              <a:t>ViewGroups</a:t>
            </a:r>
            <a:r>
              <a:rPr lang="en-US" sz="2600" dirty="0">
                <a:sym typeface="Consolas"/>
              </a:rPr>
              <a:t> in Android. </a:t>
            </a:r>
          </a:p>
          <a:p>
            <a:pPr marL="76200" lvl="0">
              <a:spcBef>
                <a:spcPts val="1000"/>
              </a:spcBef>
              <a:buSzPts val="2400"/>
            </a:pPr>
            <a:endParaRPr lang="en-US" sz="2600" dirty="0">
              <a:sym typeface="Consolas"/>
            </a:endParaRPr>
          </a:p>
          <a:p>
            <a:pPr marL="76200" lvl="0">
              <a:spcBef>
                <a:spcPts val="1000"/>
              </a:spcBef>
              <a:buSzPts val="2400"/>
            </a:pPr>
            <a:r>
              <a:rPr lang="en-US" sz="2600" dirty="0">
                <a:sym typeface="Consolas"/>
              </a:rPr>
              <a:t>They are a subclass of </a:t>
            </a:r>
            <a:r>
              <a:rPr lang="en-US" sz="2600" dirty="0" err="1">
                <a:sym typeface="Consolas"/>
              </a:rPr>
              <a:t>ViewGroup</a:t>
            </a:r>
            <a:r>
              <a:rPr lang="en-US" sz="2600" dirty="0">
                <a:sym typeface="Consolas"/>
              </a:rPr>
              <a:t> </a:t>
            </a:r>
            <a:r>
              <a:rPr lang="en-US" sz="2600" dirty="0"/>
              <a:t>that provide a different layout structure.</a:t>
            </a:r>
          </a:p>
          <a:p>
            <a:pPr marL="76200" lvl="0">
              <a:spcBef>
                <a:spcPts val="1000"/>
              </a:spcBef>
              <a:buSzPts val="2400"/>
            </a:pPr>
            <a:endParaRPr lang="en-US" sz="2600" dirty="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en-US" sz="2600" dirty="0"/>
          </a:p>
        </p:txBody>
      </p:sp>
      <p:pic>
        <p:nvPicPr>
          <p:cNvPr id="15" name="Picture 1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FC072766-75F6-E3C7-581C-3434DBCAE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645" y="2041246"/>
            <a:ext cx="3294118" cy="180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2891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4659C463-709E-F34C-E4B2-FF61B19A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6D52AB8B-EBB1-67C9-A7CA-FEAA5A13AB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Layout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6A30F8EB-C6DD-89F3-81A7-2E811A0C79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sp>
        <p:nvSpPr>
          <p:cNvPr id="247" name="Google Shape;247;p45">
            <a:extLst>
              <a:ext uri="{FF2B5EF4-FFF2-40B4-BE49-F238E27FC236}">
                <a16:creationId xmlns:a16="http://schemas.microsoft.com/office/drawing/2014/main" id="{3754993A-EB4D-2B13-B84E-2F1BD8A4D561}"/>
              </a:ext>
            </a:extLst>
          </p:cNvPr>
          <p:cNvSpPr txBox="1"/>
          <p:nvPr/>
        </p:nvSpPr>
        <p:spPr>
          <a:xfrm>
            <a:off x="362350" y="1393150"/>
            <a:ext cx="4981175" cy="309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lvl="0">
              <a:spcBef>
                <a:spcPts val="1000"/>
              </a:spcBef>
              <a:buSzPts val="2400"/>
            </a:pPr>
            <a:r>
              <a:rPr lang="en-US" sz="2600" dirty="0"/>
              <a:t>They dictate how different views and elements are organized on the screen.</a:t>
            </a:r>
            <a:endParaRPr lang="en-US" sz="2600" dirty="0">
              <a:sym typeface="Consolas"/>
            </a:endParaRPr>
          </a:p>
        </p:txBody>
      </p:sp>
      <p:pic>
        <p:nvPicPr>
          <p:cNvPr id="15" name="Picture 1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EDC00D7B-B226-1AE1-8596-E077D03F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645" y="2041246"/>
            <a:ext cx="3294118" cy="1800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9504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980B9EBD-5613-D4CB-CBF8-A31B2C4B5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5">
            <a:extLst>
              <a:ext uri="{FF2B5EF4-FFF2-40B4-BE49-F238E27FC236}">
                <a16:creationId xmlns:a16="http://schemas.microsoft.com/office/drawing/2014/main" id="{58239E91-4EA3-5E99-030C-790BD11039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Types of Layout</a:t>
            </a:r>
            <a:endParaRPr dirty="0"/>
          </a:p>
        </p:txBody>
      </p:sp>
      <p:sp>
        <p:nvSpPr>
          <p:cNvPr id="246" name="Google Shape;246;p45">
            <a:extLst>
              <a:ext uri="{FF2B5EF4-FFF2-40B4-BE49-F238E27FC236}">
                <a16:creationId xmlns:a16="http://schemas.microsoft.com/office/drawing/2014/main" id="{9F8FF342-59C0-8AB8-EE6E-0C9F9F24DB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2" name="Google Shape;481;p85">
            <a:extLst>
              <a:ext uri="{FF2B5EF4-FFF2-40B4-BE49-F238E27FC236}">
                <a16:creationId xmlns:a16="http://schemas.microsoft.com/office/drawing/2014/main" id="{692A8D10-DA73-A1FB-9A9F-B6143525CB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451" y="1775681"/>
            <a:ext cx="216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83;p85">
            <a:extLst>
              <a:ext uri="{FF2B5EF4-FFF2-40B4-BE49-F238E27FC236}">
                <a16:creationId xmlns:a16="http://schemas.microsoft.com/office/drawing/2014/main" id="{9F505C3B-DCB2-4A43-DBAE-10FC18961BAF}"/>
              </a:ext>
            </a:extLst>
          </p:cNvPr>
          <p:cNvSpPr txBox="1"/>
          <p:nvPr/>
        </p:nvSpPr>
        <p:spPr>
          <a:xfrm>
            <a:off x="276811" y="3651867"/>
            <a:ext cx="2279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onsolas"/>
                <a:ea typeface="Consolas"/>
                <a:cs typeface="Consolas"/>
                <a:sym typeface="Consolas"/>
              </a:rPr>
              <a:t>LinearLayout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484;p85">
            <a:extLst>
              <a:ext uri="{FF2B5EF4-FFF2-40B4-BE49-F238E27FC236}">
                <a16:creationId xmlns:a16="http://schemas.microsoft.com/office/drawing/2014/main" id="{EB9F04EB-B807-BAF9-FD3C-2BFBE45CEBDC}"/>
              </a:ext>
            </a:extLst>
          </p:cNvPr>
          <p:cNvSpPr txBox="1"/>
          <p:nvPr/>
        </p:nvSpPr>
        <p:spPr>
          <a:xfrm>
            <a:off x="3472972" y="3651867"/>
            <a:ext cx="2421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onsolas"/>
                <a:ea typeface="Consolas"/>
                <a:cs typeface="Consolas"/>
                <a:sym typeface="Consolas"/>
              </a:rPr>
              <a:t>ConstraintLayout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" name="Google Shape;487;p85">
            <a:extLst>
              <a:ext uri="{FF2B5EF4-FFF2-40B4-BE49-F238E27FC236}">
                <a16:creationId xmlns:a16="http://schemas.microsoft.com/office/drawing/2014/main" id="{77FAFDD5-8F64-1B78-6341-ED21B9A20D5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5549" y="1851867"/>
            <a:ext cx="2160000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88;p85">
            <a:extLst>
              <a:ext uri="{FF2B5EF4-FFF2-40B4-BE49-F238E27FC236}">
                <a16:creationId xmlns:a16="http://schemas.microsoft.com/office/drawing/2014/main" id="{BDC8540F-9905-7C5A-80A0-E1CC0F41394D}"/>
              </a:ext>
            </a:extLst>
          </p:cNvPr>
          <p:cNvSpPr txBox="1"/>
          <p:nvPr/>
        </p:nvSpPr>
        <p:spPr>
          <a:xfrm>
            <a:off x="6959061" y="3653122"/>
            <a:ext cx="19521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Consolas"/>
                <a:ea typeface="Consolas"/>
                <a:cs typeface="Consolas"/>
                <a:sym typeface="Consolas"/>
              </a:rPr>
              <a:t>TableLayout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18B6BC8-9921-EC06-3FFD-84F91940D6AF}"/>
              </a:ext>
            </a:extLst>
          </p:cNvPr>
          <p:cNvGrpSpPr/>
          <p:nvPr/>
        </p:nvGrpSpPr>
        <p:grpSpPr>
          <a:xfrm>
            <a:off x="3492000" y="1823292"/>
            <a:ext cx="2160000" cy="1800000"/>
            <a:chOff x="2334678" y="1620050"/>
            <a:chExt cx="1952225" cy="1439763"/>
          </a:xfrm>
        </p:grpSpPr>
        <p:pic>
          <p:nvPicPr>
            <p:cNvPr id="3" name="Google Shape;482;p85">
              <a:extLst>
                <a:ext uri="{FF2B5EF4-FFF2-40B4-BE49-F238E27FC236}">
                  <a16:creationId xmlns:a16="http://schemas.microsoft.com/office/drawing/2014/main" id="{43CEEF58-9CF3-532A-E9C9-C24A2D22E4C1}"/>
                </a:ext>
              </a:extLst>
            </p:cNvPr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334678" y="1620050"/>
              <a:ext cx="1952225" cy="143976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" name="Google Shape;489;p85">
              <a:extLst>
                <a:ext uri="{FF2B5EF4-FFF2-40B4-BE49-F238E27FC236}">
                  <a16:creationId xmlns:a16="http://schemas.microsoft.com/office/drawing/2014/main" id="{68E3A4A8-7207-E607-8998-B77F93F11EAF}"/>
                </a:ext>
              </a:extLst>
            </p:cNvPr>
            <p:cNvCxnSpPr/>
            <p:nvPr/>
          </p:nvCxnSpPr>
          <p:spPr>
            <a:xfrm>
              <a:off x="3447525" y="2817350"/>
              <a:ext cx="240900" cy="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cxnSp>
          <p:nvCxnSpPr>
            <p:cNvPr id="11" name="Google Shape;490;p85">
              <a:extLst>
                <a:ext uri="{FF2B5EF4-FFF2-40B4-BE49-F238E27FC236}">
                  <a16:creationId xmlns:a16="http://schemas.microsoft.com/office/drawing/2014/main" id="{918C5E7E-9DBF-84E1-9D88-7C4BC20DC3C3}"/>
                </a:ext>
              </a:extLst>
            </p:cNvPr>
            <p:cNvCxnSpPr/>
            <p:nvPr/>
          </p:nvCxnSpPr>
          <p:spPr>
            <a:xfrm flipH="1">
              <a:off x="3011868" y="2594925"/>
              <a:ext cx="370800" cy="1392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cxnSp>
          <p:nvCxnSpPr>
            <p:cNvPr id="12" name="Google Shape;491;p85">
              <a:extLst>
                <a:ext uri="{FF2B5EF4-FFF2-40B4-BE49-F238E27FC236}">
                  <a16:creationId xmlns:a16="http://schemas.microsoft.com/office/drawing/2014/main" id="{850BDBBC-FC9D-1297-CA91-20BAF8CD573B}"/>
                </a:ext>
              </a:extLst>
            </p:cNvPr>
            <p:cNvCxnSpPr/>
            <p:nvPr/>
          </p:nvCxnSpPr>
          <p:spPr>
            <a:xfrm>
              <a:off x="3317782" y="2594925"/>
              <a:ext cx="537300" cy="129900"/>
            </a:xfrm>
            <a:prstGeom prst="straightConnector1">
              <a:avLst/>
            </a:prstGeom>
            <a:noFill/>
            <a:ln w="19050" cap="flat" cmpd="sng">
              <a:solidFill>
                <a:srgbClr val="FFFFFF"/>
              </a:solidFill>
              <a:prstDash val="solid"/>
              <a:round/>
              <a:headEnd type="oval" w="med" len="med"/>
              <a:tailEnd type="oval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427548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14523-5455-0289-18BF-FCDC08BE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Linear Layout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3F38D-67D8-BBF6-498D-BDCBF51BA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076275"/>
            <a:ext cx="5076544" cy="3416400"/>
          </a:xfrm>
        </p:spPr>
        <p:txBody>
          <a:bodyPr/>
          <a:lstStyle/>
          <a:p>
            <a:pPr marL="76200" indent="0">
              <a:buNone/>
            </a:pPr>
            <a:r>
              <a:rPr lang="en-US" b="1" dirty="0" err="1">
                <a:solidFill>
                  <a:srgbClr val="00B050"/>
                </a:solidFill>
              </a:rPr>
              <a:t>LinearLayout</a:t>
            </a:r>
            <a:r>
              <a:rPr lang="en-US" dirty="0"/>
              <a:t> is a view group that aligns all children in a single direction, vertically or horizontally.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C5C4E-D82E-1F29-6478-5686BCD2D6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028520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91596-A7C7-B653-99F4-E50402CEA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19351-3A9D-09B1-B40E-62FD6932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Linear Layout (Vertical)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6CD14-B217-794D-6D37-8CEB77D2A2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627A740-D9F1-CDF7-1C1A-D24850641550}"/>
              </a:ext>
            </a:extLst>
          </p:cNvPr>
          <p:cNvGrpSpPr/>
          <p:nvPr/>
        </p:nvGrpSpPr>
        <p:grpSpPr>
          <a:xfrm>
            <a:off x="482181" y="1254056"/>
            <a:ext cx="3363134" cy="3124640"/>
            <a:chOff x="955727" y="1271712"/>
            <a:chExt cx="3363134" cy="312464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929CFC-C37D-6D72-942E-ED67878717D2}"/>
                </a:ext>
              </a:extLst>
            </p:cNvPr>
            <p:cNvSpPr/>
            <p:nvPr/>
          </p:nvSpPr>
          <p:spPr>
            <a:xfrm>
              <a:off x="955727" y="1271712"/>
              <a:ext cx="3363134" cy="312464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PH" sz="1200" dirty="0">
                  <a:solidFill>
                    <a:schemeClr val="tx1"/>
                  </a:solidFill>
                  <a:latin typeface="Consolas" panose="020B0609020204030204" pitchFamily="49" charset="0"/>
                </a:rPr>
                <a:t>activity_main.xml</a:t>
              </a:r>
            </a:p>
            <a:p>
              <a:pPr algn="ctr"/>
              <a:endParaRPr lang="en-PH" dirty="0">
                <a:solidFill>
                  <a:schemeClr val="tx1"/>
                </a:solidFill>
              </a:endParaRPr>
            </a:p>
            <a:p>
              <a:pPr algn="ctr"/>
              <a:endParaRPr lang="en-PH" dirty="0">
                <a:solidFill>
                  <a:schemeClr val="tx1"/>
                </a:solidFill>
              </a:endParaRPr>
            </a:p>
            <a:p>
              <a:pPr algn="ctr"/>
              <a:endParaRPr lang="en-PH" dirty="0">
                <a:solidFill>
                  <a:schemeClr val="tx1"/>
                </a:solidFill>
              </a:endParaRPr>
            </a:p>
            <a:p>
              <a:pPr algn="ctr"/>
              <a:endParaRPr lang="en-PH" dirty="0">
                <a:solidFill>
                  <a:schemeClr val="tx1"/>
                </a:solidFill>
              </a:endParaRPr>
            </a:p>
            <a:p>
              <a:pPr algn="ctr"/>
              <a:endParaRPr lang="en-PH" dirty="0">
                <a:solidFill>
                  <a:schemeClr val="tx1"/>
                </a:solidFill>
              </a:endParaRPr>
            </a:p>
            <a:p>
              <a:pPr algn="ctr"/>
              <a:endParaRPr lang="en-PH" dirty="0">
                <a:solidFill>
                  <a:schemeClr val="tx1"/>
                </a:solidFill>
              </a:endParaRPr>
            </a:p>
            <a:p>
              <a:pPr algn="ctr"/>
              <a:endParaRPr lang="en-PH" dirty="0">
                <a:solidFill>
                  <a:schemeClr val="tx1"/>
                </a:solidFill>
              </a:endParaRPr>
            </a:p>
            <a:p>
              <a:pPr algn="ctr"/>
              <a:endParaRPr lang="en-PH" dirty="0">
                <a:solidFill>
                  <a:schemeClr val="tx1"/>
                </a:solidFill>
              </a:endParaRPr>
            </a:p>
            <a:p>
              <a:pPr algn="ctr"/>
              <a:endParaRPr lang="en-PH" dirty="0">
                <a:solidFill>
                  <a:schemeClr val="tx1"/>
                </a:solidFill>
              </a:endParaRPr>
            </a:p>
            <a:p>
              <a:pPr algn="ctr"/>
              <a:endParaRPr lang="en-PH" dirty="0">
                <a:solidFill>
                  <a:schemeClr val="tx1"/>
                </a:solidFill>
              </a:endParaRPr>
            </a:p>
            <a:p>
              <a:pPr algn="ctr"/>
              <a:endParaRPr lang="en-PH" dirty="0">
                <a:solidFill>
                  <a:schemeClr val="tx1"/>
                </a:solidFill>
              </a:endParaRPr>
            </a:p>
            <a:p>
              <a:pPr algn="ctr"/>
              <a:endParaRPr lang="en-PH" dirty="0">
                <a:solidFill>
                  <a:schemeClr val="tx1"/>
                </a:solidFill>
              </a:endParaRPr>
            </a:p>
            <a:p>
              <a:pPr algn="ctr"/>
              <a:endParaRPr lang="en-PH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713846-9C6D-A820-CC67-49447E91E067}"/>
                </a:ext>
              </a:extLst>
            </p:cNvPr>
            <p:cNvSpPr/>
            <p:nvPr/>
          </p:nvSpPr>
          <p:spPr>
            <a:xfrm>
              <a:off x="1154622" y="1594167"/>
              <a:ext cx="2965343" cy="2479730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PH" b="1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LinearLayout</a:t>
              </a:r>
              <a:endParaRPr lang="en-PH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/>
              <a:endParaRPr lang="en-PH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/>
              <a:endParaRPr lang="en-PH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/>
              <a:endParaRPr lang="en-PH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/>
              <a:endParaRPr lang="en-PH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/>
              <a:endParaRPr lang="en-PH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/>
              <a:endParaRPr lang="en-PH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/>
              <a:endParaRPr lang="en-PH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/>
              <a:endParaRPr lang="en-PH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/>
              <a:endParaRPr lang="en-PH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 algn="ctr"/>
              <a:endParaRPr lang="en-PH" b="1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7709250-FD31-AF56-0E84-0BB09D075F1F}"/>
                </a:ext>
              </a:extLst>
            </p:cNvPr>
            <p:cNvSpPr/>
            <p:nvPr/>
          </p:nvSpPr>
          <p:spPr>
            <a:xfrm>
              <a:off x="1632486" y="2059543"/>
              <a:ext cx="2009614" cy="45461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/>
                <a:t>Button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59115FE7-FB8F-D250-DE2E-EF8AF1F6279E}"/>
                </a:ext>
              </a:extLst>
            </p:cNvPr>
            <p:cNvSpPr/>
            <p:nvPr/>
          </p:nvSpPr>
          <p:spPr>
            <a:xfrm>
              <a:off x="1644109" y="2643107"/>
              <a:ext cx="2009614" cy="45461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/>
                <a:t>Button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192B2FE-DC9B-436F-BAEC-29143E6D3C59}"/>
                </a:ext>
              </a:extLst>
            </p:cNvPr>
            <p:cNvSpPr/>
            <p:nvPr/>
          </p:nvSpPr>
          <p:spPr>
            <a:xfrm>
              <a:off x="1632486" y="3275954"/>
              <a:ext cx="2009614" cy="45461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PH" dirty="0"/>
                <a:t>Button</a:t>
              </a:r>
            </a:p>
          </p:txBody>
        </p:sp>
      </p:grpSp>
      <p:pic>
        <p:nvPicPr>
          <p:cNvPr id="23" name="Picture 2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53132701-F9A8-969E-1E37-D2202375A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280" y="1018691"/>
            <a:ext cx="1701902" cy="3600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CEEE054-0692-C74D-2E5D-B613B66DE1FF}"/>
              </a:ext>
            </a:extLst>
          </p:cNvPr>
          <p:cNvSpPr/>
          <p:nvPr/>
        </p:nvSpPr>
        <p:spPr>
          <a:xfrm>
            <a:off x="6837031" y="2395559"/>
            <a:ext cx="914400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5" name="Graphic 24" descr="Badge 1 with solid fill">
            <a:extLst>
              <a:ext uri="{FF2B5EF4-FFF2-40B4-BE49-F238E27FC236}">
                <a16:creationId xmlns:a16="http://schemas.microsoft.com/office/drawing/2014/main" id="{CB7A7809-145D-5603-C588-A0C8D7885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7193" y="2708759"/>
            <a:ext cx="288000" cy="28800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89B2A17-6647-2B9A-D215-BA5EEB77BC7F}"/>
              </a:ext>
            </a:extLst>
          </p:cNvPr>
          <p:cNvCxnSpPr>
            <a:cxnSpLocks/>
            <a:stCxn id="25" idx="3"/>
            <a:endCxn id="24" idx="1"/>
          </p:cNvCxnSpPr>
          <p:nvPr/>
        </p:nvCxnSpPr>
        <p:spPr>
          <a:xfrm>
            <a:off x="6265193" y="2852759"/>
            <a:ext cx="57183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4CFC0B5-9A4F-E6D1-DDEF-039EFC3FBD97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7531947" y="2659470"/>
            <a:ext cx="66611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Badge with solid fill">
            <a:extLst>
              <a:ext uri="{FF2B5EF4-FFF2-40B4-BE49-F238E27FC236}">
                <a16:creationId xmlns:a16="http://schemas.microsoft.com/office/drawing/2014/main" id="{5FE0E52F-1BCD-4E65-6BE0-DD838A3F44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8057" y="2515470"/>
            <a:ext cx="288000" cy="28800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2D80BC9-48F7-1BA3-FE37-B5590C9B0BF5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7531947" y="2852759"/>
            <a:ext cx="666110" cy="2387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 descr="Badge 3 with solid fill">
            <a:extLst>
              <a:ext uri="{FF2B5EF4-FFF2-40B4-BE49-F238E27FC236}">
                <a16:creationId xmlns:a16="http://schemas.microsoft.com/office/drawing/2014/main" id="{A188FE2C-B801-95BE-46C6-A102F04E4B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98057" y="2947470"/>
            <a:ext cx="288000" cy="288000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51921EB-9DEE-F56E-4B36-4FAECC7F357E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7531947" y="2996759"/>
            <a:ext cx="647322" cy="3827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Graphic 31" descr="Badge 4 with solid fill">
            <a:extLst>
              <a:ext uri="{FF2B5EF4-FFF2-40B4-BE49-F238E27FC236}">
                <a16:creationId xmlns:a16="http://schemas.microsoft.com/office/drawing/2014/main" id="{161B8628-C038-7CD3-5B62-FBAB3822389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79269" y="3235470"/>
            <a:ext cx="288000" cy="288000"/>
          </a:xfrm>
          <a:prstGeom prst="rect">
            <a:avLst/>
          </a:prstGeom>
        </p:spPr>
      </p:pic>
      <p:pic>
        <p:nvPicPr>
          <p:cNvPr id="38" name="Graphic 37" descr="Badge 1 with solid fill">
            <a:extLst>
              <a:ext uri="{FF2B5EF4-FFF2-40B4-BE49-F238E27FC236}">
                <a16:creationId xmlns:a16="http://schemas.microsoft.com/office/drawing/2014/main" id="{20545A12-08DC-64CD-7838-3D35765BE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128" y="1648733"/>
            <a:ext cx="288000" cy="288000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3B1B074-F6EB-2D94-BE25-8DD8507AFE4B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275872" y="1792733"/>
            <a:ext cx="42741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859EC9F-D1D4-6D98-CCDA-C0504374C949}"/>
              </a:ext>
            </a:extLst>
          </p:cNvPr>
          <p:cNvCxnSpPr>
            <a:cxnSpLocks/>
            <a:stCxn id="55" idx="1"/>
            <a:endCxn id="9" idx="3"/>
          </p:cNvCxnSpPr>
          <p:nvPr/>
        </p:nvCxnSpPr>
        <p:spPr>
          <a:xfrm flipH="1">
            <a:off x="3168554" y="2268965"/>
            <a:ext cx="739070" cy="2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Graphic 54" descr="Badge with solid fill">
            <a:extLst>
              <a:ext uri="{FF2B5EF4-FFF2-40B4-BE49-F238E27FC236}">
                <a16:creationId xmlns:a16="http://schemas.microsoft.com/office/drawing/2014/main" id="{966E563E-FE87-1EB4-9EC8-748137E096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7624" y="2124965"/>
            <a:ext cx="288000" cy="288000"/>
          </a:xfrm>
          <a:prstGeom prst="rect">
            <a:avLst/>
          </a:prstGeom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28C87E3-F444-BD1B-C84F-AC174F54A81E}"/>
              </a:ext>
            </a:extLst>
          </p:cNvPr>
          <p:cNvCxnSpPr>
            <a:cxnSpLocks/>
            <a:stCxn id="57" idx="1"/>
            <a:endCxn id="10" idx="3"/>
          </p:cNvCxnSpPr>
          <p:nvPr/>
        </p:nvCxnSpPr>
        <p:spPr>
          <a:xfrm flipH="1" flipV="1">
            <a:off x="3180177" y="2852760"/>
            <a:ext cx="727447" cy="1697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Graphic 56" descr="Badge 3 with solid fill">
            <a:extLst>
              <a:ext uri="{FF2B5EF4-FFF2-40B4-BE49-F238E27FC236}">
                <a16:creationId xmlns:a16="http://schemas.microsoft.com/office/drawing/2014/main" id="{1DA1173E-90E2-C7B3-3ACD-7997902E5B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07624" y="2725739"/>
            <a:ext cx="288000" cy="288000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0B30637-3A31-8BBF-3A6F-BB6A28735FEA}"/>
              </a:ext>
            </a:extLst>
          </p:cNvPr>
          <p:cNvCxnSpPr>
            <a:cxnSpLocks/>
            <a:stCxn id="59" idx="1"/>
            <a:endCxn id="11" idx="3"/>
          </p:cNvCxnSpPr>
          <p:nvPr/>
        </p:nvCxnSpPr>
        <p:spPr>
          <a:xfrm flipH="1">
            <a:off x="3168554" y="3485606"/>
            <a:ext cx="739070" cy="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Graphic 58" descr="Badge 4 with solid fill">
            <a:extLst>
              <a:ext uri="{FF2B5EF4-FFF2-40B4-BE49-F238E27FC236}">
                <a16:creationId xmlns:a16="http://schemas.microsoft.com/office/drawing/2014/main" id="{4DD319BF-BE37-59F5-2854-257621701B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7624" y="3341606"/>
            <a:ext cx="288000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99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783AF-D32D-2F47-7917-BCFB6AA5E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09F31-D8BE-8BAC-54BF-BAD3C76B3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Linear Layout (Horizontal)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976F5-8167-6A0F-105C-D7344C8788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2BC456B0-D69D-F756-9B4E-C2DC0F822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672" y="1016376"/>
            <a:ext cx="1701903" cy="3600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CFB607C-5145-AF47-4E0C-2380B36A863D}"/>
              </a:ext>
            </a:extLst>
          </p:cNvPr>
          <p:cNvSpPr/>
          <p:nvPr/>
        </p:nvSpPr>
        <p:spPr>
          <a:xfrm>
            <a:off x="482181" y="1254056"/>
            <a:ext cx="3363134" cy="3124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sz="1200" dirty="0">
                <a:solidFill>
                  <a:schemeClr val="tx1"/>
                </a:solidFill>
                <a:latin typeface="Consolas" panose="020B0609020204030204" pitchFamily="49" charset="0"/>
              </a:rPr>
              <a:t>activity_main.xml</a:t>
            </a:r>
          </a:p>
          <a:p>
            <a:pPr algn="ctr"/>
            <a:endParaRPr lang="en-PH" dirty="0">
              <a:solidFill>
                <a:schemeClr val="tx1"/>
              </a:solidFill>
            </a:endParaRPr>
          </a:p>
          <a:p>
            <a:pPr algn="ctr"/>
            <a:endParaRPr lang="en-PH" dirty="0">
              <a:solidFill>
                <a:schemeClr val="tx1"/>
              </a:solidFill>
            </a:endParaRPr>
          </a:p>
          <a:p>
            <a:pPr algn="ctr"/>
            <a:endParaRPr lang="en-PH" dirty="0">
              <a:solidFill>
                <a:schemeClr val="tx1"/>
              </a:solidFill>
            </a:endParaRPr>
          </a:p>
          <a:p>
            <a:pPr algn="ctr"/>
            <a:endParaRPr lang="en-PH" dirty="0">
              <a:solidFill>
                <a:schemeClr val="tx1"/>
              </a:solidFill>
            </a:endParaRPr>
          </a:p>
          <a:p>
            <a:pPr algn="ctr"/>
            <a:endParaRPr lang="en-PH" dirty="0">
              <a:solidFill>
                <a:schemeClr val="tx1"/>
              </a:solidFill>
            </a:endParaRPr>
          </a:p>
          <a:p>
            <a:pPr algn="ctr"/>
            <a:endParaRPr lang="en-PH" dirty="0">
              <a:solidFill>
                <a:schemeClr val="tx1"/>
              </a:solidFill>
            </a:endParaRPr>
          </a:p>
          <a:p>
            <a:pPr algn="ctr"/>
            <a:endParaRPr lang="en-PH" dirty="0">
              <a:solidFill>
                <a:schemeClr val="tx1"/>
              </a:solidFill>
            </a:endParaRPr>
          </a:p>
          <a:p>
            <a:pPr algn="ctr"/>
            <a:endParaRPr lang="en-PH" dirty="0">
              <a:solidFill>
                <a:schemeClr val="tx1"/>
              </a:solidFill>
            </a:endParaRPr>
          </a:p>
          <a:p>
            <a:pPr algn="ctr"/>
            <a:endParaRPr lang="en-PH" dirty="0">
              <a:solidFill>
                <a:schemeClr val="tx1"/>
              </a:solidFill>
            </a:endParaRPr>
          </a:p>
          <a:p>
            <a:pPr algn="ctr"/>
            <a:endParaRPr lang="en-PH" dirty="0">
              <a:solidFill>
                <a:schemeClr val="tx1"/>
              </a:solidFill>
            </a:endParaRPr>
          </a:p>
          <a:p>
            <a:pPr algn="ctr"/>
            <a:endParaRPr lang="en-PH" dirty="0">
              <a:solidFill>
                <a:schemeClr val="tx1"/>
              </a:solidFill>
            </a:endParaRPr>
          </a:p>
          <a:p>
            <a:pPr algn="ctr"/>
            <a:endParaRPr lang="en-PH" dirty="0">
              <a:solidFill>
                <a:schemeClr val="tx1"/>
              </a:solidFill>
            </a:endParaRPr>
          </a:p>
          <a:p>
            <a:pPr algn="ctr"/>
            <a:endParaRPr lang="en-PH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8339F-7B24-B5B0-E0CA-47486C1A3CD4}"/>
              </a:ext>
            </a:extLst>
          </p:cNvPr>
          <p:cNvSpPr/>
          <p:nvPr/>
        </p:nvSpPr>
        <p:spPr>
          <a:xfrm>
            <a:off x="681076" y="1576511"/>
            <a:ext cx="2965343" cy="247973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PH" b="1" dirty="0" err="1">
                <a:solidFill>
                  <a:schemeClr val="tx1"/>
                </a:solidFill>
                <a:latin typeface="Consolas" panose="020B0609020204030204" pitchFamily="49" charset="0"/>
              </a:rPr>
              <a:t>LinearLayout</a:t>
            </a:r>
            <a:endParaRPr lang="en-PH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PH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PH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PH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PH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PH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PH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PH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PH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PH" b="1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ctr"/>
            <a:endParaRPr lang="en-PH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8640716-C829-311D-430C-35DF49259533}"/>
              </a:ext>
            </a:extLst>
          </p:cNvPr>
          <p:cNvSpPr/>
          <p:nvPr/>
        </p:nvSpPr>
        <p:spPr>
          <a:xfrm>
            <a:off x="821118" y="2687663"/>
            <a:ext cx="720000" cy="4546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900" dirty="0"/>
              <a:t>Button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14C85A9-1309-7FED-CFF0-91943B0D734F}"/>
              </a:ext>
            </a:extLst>
          </p:cNvPr>
          <p:cNvSpPr/>
          <p:nvPr/>
        </p:nvSpPr>
        <p:spPr>
          <a:xfrm>
            <a:off x="1796962" y="2687663"/>
            <a:ext cx="720000" cy="4546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900" dirty="0"/>
              <a:t>Button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CBB878B-96C8-BF5D-9996-F7B8A2EC0FF2}"/>
              </a:ext>
            </a:extLst>
          </p:cNvPr>
          <p:cNvSpPr/>
          <p:nvPr/>
        </p:nvSpPr>
        <p:spPr>
          <a:xfrm>
            <a:off x="2772807" y="2687663"/>
            <a:ext cx="720000" cy="4546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PH" sz="900" dirty="0"/>
              <a:t>Button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D1764A-0250-B8F0-DE75-5E004FB87D7F}"/>
              </a:ext>
            </a:extLst>
          </p:cNvPr>
          <p:cNvSpPr/>
          <p:nvPr/>
        </p:nvSpPr>
        <p:spPr>
          <a:xfrm>
            <a:off x="6509172" y="2571750"/>
            <a:ext cx="1578187" cy="503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22" name="Graphic 21" descr="Badge 1 with solid fill">
            <a:extLst>
              <a:ext uri="{FF2B5EF4-FFF2-40B4-BE49-F238E27FC236}">
                <a16:creationId xmlns:a16="http://schemas.microsoft.com/office/drawing/2014/main" id="{B2FAA324-1D10-6120-BA9F-E275F408BE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128" y="1648733"/>
            <a:ext cx="288000" cy="288000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70F06D4-14B5-DF17-3505-6362A863953D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275872" y="1792733"/>
            <a:ext cx="42741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D355C51-1DE4-7334-481D-C232F72003E8}"/>
              </a:ext>
            </a:extLst>
          </p:cNvPr>
          <p:cNvCxnSpPr>
            <a:cxnSpLocks/>
            <a:stCxn id="26" idx="0"/>
            <a:endCxn id="11" idx="2"/>
          </p:cNvCxnSpPr>
          <p:nvPr/>
        </p:nvCxnSpPr>
        <p:spPr>
          <a:xfrm flipV="1">
            <a:off x="1181118" y="3142280"/>
            <a:ext cx="0" cy="12269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Graphic 25" descr="Badge with solid fill">
            <a:extLst>
              <a:ext uri="{FF2B5EF4-FFF2-40B4-BE49-F238E27FC236}">
                <a16:creationId xmlns:a16="http://schemas.microsoft.com/office/drawing/2014/main" id="{73A02508-FA32-4ED8-4607-65DA4CBC08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7118" y="4369221"/>
            <a:ext cx="288000" cy="288000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3A1FAD0-84EB-50EB-93A3-B97F34E01FC3}"/>
              </a:ext>
            </a:extLst>
          </p:cNvPr>
          <p:cNvCxnSpPr>
            <a:cxnSpLocks/>
            <a:stCxn id="9" idx="2"/>
            <a:endCxn id="15" idx="2"/>
          </p:cNvCxnSpPr>
          <p:nvPr/>
        </p:nvCxnSpPr>
        <p:spPr>
          <a:xfrm flipH="1" flipV="1">
            <a:off x="2156962" y="3142280"/>
            <a:ext cx="6786" cy="12364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Graphic 27" descr="Badge 3 with solid fill">
            <a:extLst>
              <a:ext uri="{FF2B5EF4-FFF2-40B4-BE49-F238E27FC236}">
                <a16:creationId xmlns:a16="http://schemas.microsoft.com/office/drawing/2014/main" id="{90010850-9049-8739-3850-6BC1BBB348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19747" y="4369221"/>
            <a:ext cx="288000" cy="28800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8E3C4E5-AE9A-934D-230F-D98A9EE0A805}"/>
              </a:ext>
            </a:extLst>
          </p:cNvPr>
          <p:cNvCxnSpPr>
            <a:cxnSpLocks/>
            <a:stCxn id="30" idx="0"/>
            <a:endCxn id="20" idx="2"/>
          </p:cNvCxnSpPr>
          <p:nvPr/>
        </p:nvCxnSpPr>
        <p:spPr>
          <a:xfrm flipH="1" flipV="1">
            <a:off x="3132807" y="3142280"/>
            <a:ext cx="13569" cy="12364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 descr="Badge 4 with solid fill">
            <a:extLst>
              <a:ext uri="{FF2B5EF4-FFF2-40B4-BE49-F238E27FC236}">
                <a16:creationId xmlns:a16="http://schemas.microsoft.com/office/drawing/2014/main" id="{B016A8D7-4476-1341-8AD3-BCA6B811D9E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02376" y="4378696"/>
            <a:ext cx="288000" cy="288000"/>
          </a:xfrm>
          <a:prstGeom prst="rect">
            <a:avLst/>
          </a:prstGeom>
        </p:spPr>
      </p:pic>
      <p:pic>
        <p:nvPicPr>
          <p:cNvPr id="38" name="Graphic 37" descr="Badge 1 with solid fill">
            <a:extLst>
              <a:ext uri="{FF2B5EF4-FFF2-40B4-BE49-F238E27FC236}">
                <a16:creationId xmlns:a16="http://schemas.microsoft.com/office/drawing/2014/main" id="{CDDA21C0-B521-0C36-7CD7-76BDE48F3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9785" y="2687663"/>
            <a:ext cx="288000" cy="288000"/>
          </a:xfrm>
          <a:prstGeom prst="rect">
            <a:avLst/>
          </a:prstGeom>
        </p:spPr>
      </p:pic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0060C7F-EDF4-D35F-0857-22D95CE431C0}"/>
              </a:ext>
            </a:extLst>
          </p:cNvPr>
          <p:cNvCxnSpPr>
            <a:cxnSpLocks/>
            <a:stCxn id="38" idx="3"/>
            <a:endCxn id="21" idx="1"/>
          </p:cNvCxnSpPr>
          <p:nvPr/>
        </p:nvCxnSpPr>
        <p:spPr>
          <a:xfrm flipV="1">
            <a:off x="5997785" y="2823422"/>
            <a:ext cx="511387" cy="82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Graphic 40" descr="Badge with solid fill">
            <a:extLst>
              <a:ext uri="{FF2B5EF4-FFF2-40B4-BE49-F238E27FC236}">
                <a16:creationId xmlns:a16="http://schemas.microsoft.com/office/drawing/2014/main" id="{E1639D75-D0FA-FB3F-356B-D29B3B34CB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50575" y="1790568"/>
            <a:ext cx="288000" cy="288000"/>
          </a:xfrm>
          <a:prstGeom prst="rect">
            <a:avLst/>
          </a:prstGeom>
        </p:spPr>
      </p:pic>
      <p:pic>
        <p:nvPicPr>
          <p:cNvPr id="43" name="Graphic 42" descr="Badge 3 with solid fill">
            <a:extLst>
              <a:ext uri="{FF2B5EF4-FFF2-40B4-BE49-F238E27FC236}">
                <a16:creationId xmlns:a16="http://schemas.microsoft.com/office/drawing/2014/main" id="{BE570385-B570-8A46-C14D-A67A46A8F4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4924" y="2161894"/>
            <a:ext cx="288000" cy="288000"/>
          </a:xfrm>
          <a:prstGeom prst="rect">
            <a:avLst/>
          </a:prstGeom>
        </p:spPr>
      </p:pic>
      <p:pic>
        <p:nvPicPr>
          <p:cNvPr id="45" name="Graphic 44" descr="Badge 4 with solid fill">
            <a:extLst>
              <a:ext uri="{FF2B5EF4-FFF2-40B4-BE49-F238E27FC236}">
                <a16:creationId xmlns:a16="http://schemas.microsoft.com/office/drawing/2014/main" id="{C9BC3C72-8AD1-5293-4B87-FA68DE0B8E7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179269" y="3235470"/>
            <a:ext cx="288000" cy="288000"/>
          </a:xfrm>
          <a:prstGeom prst="rect">
            <a:avLst/>
          </a:prstGeom>
        </p:spPr>
      </p:pic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6B421271-FD27-FB48-76C8-17EE3E39A52A}"/>
              </a:ext>
            </a:extLst>
          </p:cNvPr>
          <p:cNvCxnSpPr>
            <a:cxnSpLocks/>
            <a:stCxn id="41" idx="1"/>
          </p:cNvCxnSpPr>
          <p:nvPr/>
        </p:nvCxnSpPr>
        <p:spPr>
          <a:xfrm rot="10800000" flipV="1">
            <a:off x="6762751" y="1934568"/>
            <a:ext cx="1387825" cy="781180"/>
          </a:xfrm>
          <a:prstGeom prst="bentConnector3">
            <a:avLst>
              <a:gd name="adj1" fmla="val 100102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7EC96A2D-FE08-0C18-173E-443F10F28690}"/>
              </a:ext>
            </a:extLst>
          </p:cNvPr>
          <p:cNvCxnSpPr>
            <a:cxnSpLocks/>
            <a:stCxn id="43" idx="1"/>
          </p:cNvCxnSpPr>
          <p:nvPr/>
        </p:nvCxnSpPr>
        <p:spPr>
          <a:xfrm rot="10800000" flipV="1">
            <a:off x="7298270" y="2305893"/>
            <a:ext cx="876655" cy="409855"/>
          </a:xfrm>
          <a:prstGeom prst="bentConnector3">
            <a:avLst>
              <a:gd name="adj1" fmla="val 100523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7343E8E7-12E3-FCBB-3260-5AC200AB2BE6}"/>
              </a:ext>
            </a:extLst>
          </p:cNvPr>
          <p:cNvCxnSpPr>
            <a:cxnSpLocks/>
            <a:stCxn id="45" idx="1"/>
          </p:cNvCxnSpPr>
          <p:nvPr/>
        </p:nvCxnSpPr>
        <p:spPr>
          <a:xfrm rot="10800000">
            <a:off x="7783563" y="2943074"/>
            <a:ext cx="395707" cy="43639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485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EA21-8286-266E-516C-371400A3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E1C30-CF6F-2891-4A72-1BEAC9FD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/>
              <a:t>Layout Hierarchy</a:t>
            </a: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2BF65-B22F-CA94-D4D1-40C7EFC9087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  <p:sp>
        <p:nvSpPr>
          <p:cNvPr id="3" name="Google Shape;512;p88">
            <a:extLst>
              <a:ext uri="{FF2B5EF4-FFF2-40B4-BE49-F238E27FC236}">
                <a16:creationId xmlns:a16="http://schemas.microsoft.com/office/drawing/2014/main" id="{487AA2AB-2C58-9675-1196-34F8685BB738}"/>
              </a:ext>
            </a:extLst>
          </p:cNvPr>
          <p:cNvSpPr/>
          <p:nvPr/>
        </p:nvSpPr>
        <p:spPr>
          <a:xfrm>
            <a:off x="2136408" y="1630071"/>
            <a:ext cx="1566000" cy="5727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LinearLayout</a:t>
            </a:r>
            <a:endParaRPr b="1" dirty="0"/>
          </a:p>
        </p:txBody>
      </p:sp>
      <p:sp>
        <p:nvSpPr>
          <p:cNvPr id="7" name="Google Shape;514;p88">
            <a:extLst>
              <a:ext uri="{FF2B5EF4-FFF2-40B4-BE49-F238E27FC236}">
                <a16:creationId xmlns:a16="http://schemas.microsoft.com/office/drawing/2014/main" id="{5314EA5D-453C-4BAE-0D4F-C192CA87BED4}"/>
              </a:ext>
            </a:extLst>
          </p:cNvPr>
          <p:cNvSpPr/>
          <p:nvPr/>
        </p:nvSpPr>
        <p:spPr>
          <a:xfrm>
            <a:off x="2397558" y="2587246"/>
            <a:ext cx="1043700" cy="57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Button</a:t>
            </a:r>
            <a:endParaRPr b="1" dirty="0"/>
          </a:p>
        </p:txBody>
      </p:sp>
      <p:sp>
        <p:nvSpPr>
          <p:cNvPr id="12" name="Google Shape;515;p88">
            <a:extLst>
              <a:ext uri="{FF2B5EF4-FFF2-40B4-BE49-F238E27FC236}">
                <a16:creationId xmlns:a16="http://schemas.microsoft.com/office/drawing/2014/main" id="{8FF9CE73-B9FB-B91D-0368-9E648EB3C1BB}"/>
              </a:ext>
            </a:extLst>
          </p:cNvPr>
          <p:cNvSpPr/>
          <p:nvPr/>
        </p:nvSpPr>
        <p:spPr>
          <a:xfrm>
            <a:off x="3746132" y="2593977"/>
            <a:ext cx="1043700" cy="57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Button</a:t>
            </a:r>
            <a:endParaRPr b="1" dirty="0"/>
          </a:p>
        </p:txBody>
      </p:sp>
      <p:cxnSp>
        <p:nvCxnSpPr>
          <p:cNvPr id="16" name="Google Shape;519;p88">
            <a:extLst>
              <a:ext uri="{FF2B5EF4-FFF2-40B4-BE49-F238E27FC236}">
                <a16:creationId xmlns:a16="http://schemas.microsoft.com/office/drawing/2014/main" id="{26360184-A791-FCFB-C017-0602DD2998A1}"/>
              </a:ext>
            </a:extLst>
          </p:cNvPr>
          <p:cNvCxnSpPr>
            <a:cxnSpLocks/>
            <a:stCxn id="3" idx="2"/>
            <a:endCxn id="24" idx="0"/>
          </p:cNvCxnSpPr>
          <p:nvPr/>
        </p:nvCxnSpPr>
        <p:spPr>
          <a:xfrm flipH="1">
            <a:off x="1570834" y="2202771"/>
            <a:ext cx="1348574" cy="384475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" name="Google Shape;520;p88">
            <a:extLst>
              <a:ext uri="{FF2B5EF4-FFF2-40B4-BE49-F238E27FC236}">
                <a16:creationId xmlns:a16="http://schemas.microsoft.com/office/drawing/2014/main" id="{A1FDB4C0-9340-F8F5-CFB9-DC02FF2C77E6}"/>
              </a:ext>
            </a:extLst>
          </p:cNvPr>
          <p:cNvCxnSpPr>
            <a:stCxn id="3" idx="2"/>
            <a:endCxn id="7" idx="0"/>
          </p:cNvCxnSpPr>
          <p:nvPr/>
        </p:nvCxnSpPr>
        <p:spPr>
          <a:xfrm>
            <a:off x="2919408" y="2202771"/>
            <a:ext cx="0" cy="384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" name="Google Shape;521;p88">
            <a:extLst>
              <a:ext uri="{FF2B5EF4-FFF2-40B4-BE49-F238E27FC236}">
                <a16:creationId xmlns:a16="http://schemas.microsoft.com/office/drawing/2014/main" id="{AAA18EA6-ADB2-1BAD-EEC5-508CCE5BFAD8}"/>
              </a:ext>
            </a:extLst>
          </p:cNvPr>
          <p:cNvCxnSpPr>
            <a:stCxn id="3" idx="2"/>
            <a:endCxn id="12" idx="0"/>
          </p:cNvCxnSpPr>
          <p:nvPr/>
        </p:nvCxnSpPr>
        <p:spPr>
          <a:xfrm>
            <a:off x="2919408" y="2202771"/>
            <a:ext cx="1348574" cy="391206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Google Shape;514;p88">
            <a:extLst>
              <a:ext uri="{FF2B5EF4-FFF2-40B4-BE49-F238E27FC236}">
                <a16:creationId xmlns:a16="http://schemas.microsoft.com/office/drawing/2014/main" id="{C077438B-31CF-9538-BDF9-9400D38EAE98}"/>
              </a:ext>
            </a:extLst>
          </p:cNvPr>
          <p:cNvSpPr/>
          <p:nvPr/>
        </p:nvSpPr>
        <p:spPr>
          <a:xfrm>
            <a:off x="1048984" y="2587246"/>
            <a:ext cx="1043700" cy="572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Button</a:t>
            </a:r>
            <a:endParaRPr b="1" dirty="0"/>
          </a:p>
        </p:txBody>
      </p:sp>
      <p:pic>
        <p:nvPicPr>
          <p:cNvPr id="30" name="Picture 29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BCAA34FC-E9E7-DB1F-DD36-D81C99B03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839" y="978770"/>
            <a:ext cx="1701902" cy="3600000"/>
          </a:xfrm>
          <a:prstGeom prst="rect">
            <a:avLst/>
          </a:prstGeom>
        </p:spPr>
      </p:pic>
      <p:pic>
        <p:nvPicPr>
          <p:cNvPr id="31" name="Picture 30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938EA7F8-28B7-CC52-7A08-EBAE467F8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966" y="978770"/>
            <a:ext cx="1701903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500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97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dirty="0"/>
              <a:t>Constraint Layout</a:t>
            </a:r>
            <a:endParaRPr dirty="0"/>
          </a:p>
        </p:txBody>
      </p:sp>
      <p:sp>
        <p:nvSpPr>
          <p:cNvPr id="588" name="Google Shape;588;p97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589" name="Google Shape;589;p9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18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Default layout for new Android Studio project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>
                <a:latin typeface="Consolas"/>
                <a:ea typeface="Consolas"/>
                <a:cs typeface="Consolas"/>
                <a:sym typeface="Consolas"/>
              </a:rPr>
              <a:t>ViewGroup</a:t>
            </a:r>
            <a:r>
              <a:rPr lang="en" dirty="0"/>
              <a:t> that offers flexibility for layout design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Provides constraints to determine positions and alignment of UI elements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dirty="0"/>
              <a:t>Constraint is a connection to another view, parent layout, or invisible guideline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99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ConstraintLayout toolbar in layout editor</a:t>
            </a:r>
            <a:endParaRPr/>
          </a:p>
        </p:txBody>
      </p:sp>
      <p:sp>
        <p:nvSpPr>
          <p:cNvPr id="603" name="Google Shape;603;p99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604" name="Google Shape;604;p99"/>
          <p:cNvSpPr txBox="1">
            <a:spLocks noGrp="1"/>
          </p:cNvSpPr>
          <p:nvPr>
            <p:ph type="body" idx="1"/>
          </p:nvPr>
        </p:nvSpPr>
        <p:spPr>
          <a:xfrm>
            <a:off x="311700" y="1986538"/>
            <a:ext cx="8520600" cy="269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Show: Show Constraints and Show Margins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Autoconnect: Enable or disable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Clear All Constraints: Clear all constraints in layout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Infer Constraints: Create constraints by inference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Default Margins: Set default margins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Pack: Pack or expand selected elements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Align: Align selected elements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Guidelines: Add vertical or horizontal guidelines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sz="1800"/>
              <a:t>Zoom controls: Zoom in or out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</p:txBody>
      </p:sp>
      <p:pic>
        <p:nvPicPr>
          <p:cNvPr id="605" name="Google Shape;60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2388" y="1016426"/>
            <a:ext cx="7159225" cy="88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0"/>
          <p:cNvSpPr txBox="1">
            <a:spLocks noGrp="1"/>
          </p:cNvSpPr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Autoconnect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611" name="Google Shape;611;p100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612" name="Google Shape;612;p10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25300" cy="3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Enable Autoconnect      in toolbar if disabled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Drag element to any part of a layout</a:t>
            </a:r>
            <a:endParaRPr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Autoconnect generates constraints against parent layout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3" name="Google Shape;613;p100" descr="Screen Shot 2016-05-12 at 8.30.3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4825" y="1440975"/>
            <a:ext cx="333800" cy="23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37064" y="1190975"/>
            <a:ext cx="4637236" cy="31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01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ConstraintLayout handles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0" name="Google Shape;620;p10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621" name="Google Shape;621;p101"/>
          <p:cNvSpPr txBox="1"/>
          <p:nvPr/>
        </p:nvSpPr>
        <p:spPr>
          <a:xfrm>
            <a:off x="97650" y="1020650"/>
            <a:ext cx="41967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Resizing handle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Constraint line and handle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Constraint handle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Baseline handle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22" name="Google Shape;622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2100" y="1072025"/>
            <a:ext cx="3914775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2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Align elements by baseline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8" name="Google Shape;628;p102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629" name="Google Shape;629;p102"/>
          <p:cNvSpPr txBox="1"/>
          <p:nvPr/>
        </p:nvSpPr>
        <p:spPr>
          <a:xfrm>
            <a:off x="97650" y="1020650"/>
            <a:ext cx="41967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Click the      baseline constraint button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Drag from baseline to other element's baseline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30" name="Google Shape;630;p102" descr="Screen Shot 2017-05-08 at 3.01.4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575" y="1286033"/>
            <a:ext cx="324650" cy="32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4350" y="1513963"/>
            <a:ext cx="4544850" cy="2455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103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Attributes pane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7" name="Google Shape;637;p103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sp>
        <p:nvSpPr>
          <p:cNvPr id="638" name="Google Shape;638;p103"/>
          <p:cNvSpPr txBox="1"/>
          <p:nvPr/>
        </p:nvSpPr>
        <p:spPr>
          <a:xfrm>
            <a:off x="97650" y="1020650"/>
            <a:ext cx="41967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Click the Attributes tab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Attributes pane includes: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Margin controls for positioning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Attributes such as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layout_width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39" name="Google Shape;639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25" y="1480950"/>
            <a:ext cx="3373850" cy="150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4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Attributes pane view inspector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5" name="Google Shape;645;p104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sp>
        <p:nvSpPr>
          <p:cNvPr id="646" name="Google Shape;646;p104"/>
          <p:cNvSpPr txBox="1"/>
          <p:nvPr/>
        </p:nvSpPr>
        <p:spPr>
          <a:xfrm>
            <a:off x="97650" y="1020650"/>
            <a:ext cx="53796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Vertical view size control specifies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layout_height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Horizontal view size control specifies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layout_width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AutoNum type="arabicPeriod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Attributes pane close button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7" name="Google Shape;647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350" y="1034730"/>
            <a:ext cx="2958025" cy="35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05"/>
          <p:cNvSpPr txBox="1">
            <a:spLocks noGrp="1"/>
          </p:cNvSpPr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Layout_width and layout_height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53" name="Google Shape;653;p105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654" name="Google Shape;654;p105"/>
          <p:cNvSpPr txBox="1"/>
          <p:nvPr/>
        </p:nvSpPr>
        <p:spPr>
          <a:xfrm>
            <a:off x="97650" y="1020650"/>
            <a:ext cx="8715900" cy="3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layout_width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layout_height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change with size controls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match_constraint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: Expands element to fill its parent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wrap_content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: Shrinks element to enclose content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        Fixed number of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dp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(density-independent pixels)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55" name="Google Shape;655;p105" descr="Screen Shot 2016-05-12 at 5.13.1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1000" y="1832828"/>
            <a:ext cx="471100" cy="20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6" name="Google Shape;656;p105" descr="Screen Shot 2016-05-12 at 5.14.04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07" y="2337491"/>
            <a:ext cx="471100" cy="18236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105" descr="Screen Shot 2016-05-12 at 5.14.18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1000" y="2824650"/>
            <a:ext cx="471100" cy="18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8" name="Google Shape;658;p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03150" y="3347650"/>
            <a:ext cx="90487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9240E-72F2-950B-BB4D-43FB6C65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F0B07-4D6A-3A92-560C-E58960491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PH" dirty="0">
                <a:hlinkClick r:id="rId2"/>
              </a:rPr>
              <a:t>https://adapty.io/blog/android-layouts-and-views/#:~:text=In%20Android%2C%20a%20View%20(%20public,display%20components%20in%20an%20app</a:t>
            </a:r>
            <a:r>
              <a:rPr lang="en-PH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PH" dirty="0"/>
          </a:p>
          <a:p>
            <a:pPr>
              <a:buFont typeface="Arial" panose="020B0604020202020204" pitchFamily="34" charset="0"/>
              <a:buChar char="•"/>
            </a:pPr>
            <a:r>
              <a:rPr lang="en-PH" dirty="0">
                <a:hlinkClick r:id="rId3"/>
              </a:rPr>
              <a:t>https://developer.android.com/develop/ui/views/layout/declaring-layout</a:t>
            </a:r>
            <a:endParaRPr lang="en-PH" dirty="0"/>
          </a:p>
          <a:p>
            <a:pPr>
              <a:buFont typeface="Arial" panose="020B0604020202020204" pitchFamily="34" charset="0"/>
              <a:buChar char="•"/>
            </a:pPr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24961-AC7C-CB0A-E540-90AB66C573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19957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>
            <a:spLocks noGrp="1"/>
          </p:cNvSpPr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END</a:t>
            </a:r>
            <a:endParaRPr dirty="0"/>
          </a:p>
        </p:txBody>
      </p:sp>
      <p:sp>
        <p:nvSpPr>
          <p:cNvPr id="220" name="Google Shape;220;p41"/>
          <p:cNvSpPr txBox="1">
            <a:spLocks noGrp="1"/>
          </p:cNvSpPr>
          <p:nvPr>
            <p:ph type="sldNum" idx="12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4398485"/>
      </p:ext>
    </p:extLst>
  </p:cSld>
  <p:clrMapOvr>
    <a:masterClrMapping/>
  </p:clrMapOvr>
</p:sld>
</file>

<file path=ppt/theme/theme1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3" ma:contentTypeDescription="Create a new document." ma:contentTypeScope="" ma:versionID="8bed720c1d94978318d9d7cd216c6cdd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d1e6fd8c7da481a3d2be388127b355c0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5A5714C-0834-4C0E-B236-4249A47FB8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a780629-4d19-4bb9-9056-9a589cd4d271"/>
    <ds:schemaRef ds:uri="6de439ce-b7a3-4fe1-9235-7bacf56779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E7F6840-6857-43E1-9DE4-2E7F6BB5FC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E4F98A-D26E-46BF-BF72-CF571D1397AE}">
  <ds:schemaRefs>
    <ds:schemaRef ds:uri="http://schemas.microsoft.com/office/2006/metadata/properties"/>
    <ds:schemaRef ds:uri="http://schemas.microsoft.com/office/infopath/2007/PartnerControls"/>
    <ds:schemaRef ds:uri="6de439ce-b7a3-4fe1-9235-7bacf5677901"/>
    <ds:schemaRef ds:uri="9a780629-4d19-4bb9-9056-9a589cd4d27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727</Words>
  <Application>Microsoft Office PowerPoint</Application>
  <PresentationFormat>On-screen Show (16:9)</PresentationFormat>
  <Paragraphs>206</Paragraphs>
  <Slides>32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Roboto</vt:lpstr>
      <vt:lpstr>Arial</vt:lpstr>
      <vt:lpstr>Consolas</vt:lpstr>
      <vt:lpstr>Open Sans</vt:lpstr>
      <vt:lpstr>GDT master</vt:lpstr>
      <vt:lpstr>GDT master</vt:lpstr>
      <vt:lpstr>Views and Layouts</vt:lpstr>
      <vt:lpstr>Contents</vt:lpstr>
      <vt:lpstr>What is an Android View?</vt:lpstr>
      <vt:lpstr>What is an Android View?</vt:lpstr>
      <vt:lpstr>What is an Android View?</vt:lpstr>
      <vt:lpstr>What is an Android View?</vt:lpstr>
      <vt:lpstr>Types of Views</vt:lpstr>
      <vt:lpstr>Types of Views</vt:lpstr>
      <vt:lpstr>Creating Views</vt:lpstr>
      <vt:lpstr>Layout editor main toolbar</vt:lpstr>
      <vt:lpstr>Organizing Views</vt:lpstr>
      <vt:lpstr>ViewGroup</vt:lpstr>
      <vt:lpstr>ViewGroup</vt:lpstr>
      <vt:lpstr>View and ViewGroup</vt:lpstr>
      <vt:lpstr>Layout</vt:lpstr>
      <vt:lpstr>Layout</vt:lpstr>
      <vt:lpstr>Layout</vt:lpstr>
      <vt:lpstr>Types of Layout</vt:lpstr>
      <vt:lpstr>Linear Layout</vt:lpstr>
      <vt:lpstr>Linear Layout (Vertical)</vt:lpstr>
      <vt:lpstr>Linear Layout (Horizontal)</vt:lpstr>
      <vt:lpstr>Layout Hierarchy</vt:lpstr>
      <vt:lpstr>Constraint Layout</vt:lpstr>
      <vt:lpstr>ConstraintLayout toolbar in layout editor</vt:lpstr>
      <vt:lpstr>Autoconnect  </vt:lpstr>
      <vt:lpstr>ConstraintLayout handles</vt:lpstr>
      <vt:lpstr>Align elements by baseline</vt:lpstr>
      <vt:lpstr>Attributes pane</vt:lpstr>
      <vt:lpstr>Attributes pane view inspector</vt:lpstr>
      <vt:lpstr>Layout_width and layout_height</vt:lpstr>
      <vt:lpstr>References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STUDIO FUNDAMENTALS</dc:title>
  <cp:lastModifiedBy>SLY Ponio</cp:lastModifiedBy>
  <cp:revision>44</cp:revision>
  <dcterms:modified xsi:type="dcterms:W3CDTF">2025-04-04T09:34:40Z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</Properties>
</file>