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4"/>
    <p:sldMasterId id="2147483710" r:id="rId5"/>
    <p:sldMasterId id="2147483713" r:id="rId6"/>
  </p:sldMasterIdLst>
  <p:notesMasterIdLst>
    <p:notesMasterId r:id="rId59"/>
  </p:notesMasterIdLst>
  <p:sldIdLst>
    <p:sldId id="256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9" r:id="rId57"/>
    <p:sldId id="314" r:id="rId5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60"/>
      <p:bold r:id="rId61"/>
      <p:italic r:id="rId62"/>
      <p:boldItalic r:id="rId63"/>
    </p:embeddedFont>
    <p:embeddedFont>
      <p:font typeface="Roboto" panose="02000000000000000000" pitchFamily="2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1"/>
  </p:normalViewPr>
  <p:slideViewPr>
    <p:cSldViewPr snapToGrid="0">
      <p:cViewPr varScale="1">
        <p:scale>
          <a:sx n="107" d="100"/>
          <a:sy n="107" d="100"/>
        </p:scale>
        <p:origin x="78" y="1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font" Target="fonts/font4.fntdata"/><Relationship Id="rId68" Type="http://schemas.openxmlformats.org/officeDocument/2006/relationships/presProps" Target="presProps.xml"/><Relationship Id="rId7" Type="http://schemas.openxmlformats.org/officeDocument/2006/relationships/slide" Target="slides/slide1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font" Target="fonts/font7.fntdata"/><Relationship Id="rId5" Type="http://schemas.openxmlformats.org/officeDocument/2006/relationships/slideMaster" Target="slideMasters/slideMaster2.xml"/><Relationship Id="rId61" Type="http://schemas.openxmlformats.org/officeDocument/2006/relationships/font" Target="fonts/font2.fntdata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font" Target="fonts/font5.fntdata"/><Relationship Id="rId69" Type="http://schemas.openxmlformats.org/officeDocument/2006/relationships/viewProps" Target="view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font" Target="fonts/font3.fntdata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16d7d9d49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16d7d9d49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7faf6a64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7faf6a64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7faf6a644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7faf6a644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5a41e62f7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5a41e62f7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5a41e62f7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5a41e62f7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c6438653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c6438653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5a41e62f7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5a41e62f7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683f9263f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683f9263f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683f9263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683f9263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7faf6a644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17faf6a644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7faf6a644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7faf6a644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7babc7d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7babc7d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7faf6a644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17faf6a644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683f9263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1683f9263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5a41e62f7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5a41e62f7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5a3800b80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5a3800b80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683f9263f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683f9263f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6ff707b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6ff707b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5a3800b80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5a3800b80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5a41e62f7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5a41e62f7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7faf6a644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17faf6a644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7faf6a644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17faf6a644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c6fdbee6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2c6fdbee6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1950c00dfc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1950c00dfc_1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950c00dfc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950c00dfc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116ebaa6d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116ebaa6d3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c651832b5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c651832b5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c6fdbee6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c6fdbee6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c6fdbee6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c6fdbee6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c6fdbee6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c6fdbee6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c6fdbee6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c6fdbee6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2c6fdbee6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2c6fdbee6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1950c00df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1950c00df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c6fdbee6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2c6fdbee6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c6fdbee6f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2c6fdbee6f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c6fdbee6f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c6fdbee6f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c6fdbee6f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2c6fdbee6f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c6fdbee6f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c6fdbee6f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c6fdbee6f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2c6fdbee6f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c6fdbee6f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2c6fdbee6f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c6fdbee6f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2c6fdbee6f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c6fdbee6f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2c6fdbee6f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168043c3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168043c3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17faf6a644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17faf6a644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683f9263f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683f9263f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17faf6a644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17faf6a644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17faf6a644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17faf6a644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1683f9263f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1683f9263f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1683f9263f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1683f9263f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194f28ab1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194f28ab1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168043c3c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168043c3c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measurements that you should use for your dimensions.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independent pixels are independent of screen resolution.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example, 10px will look a lot smaller on a higher resolution screen, but Android will scale 10dp to look right on different resolution screens.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 does the same for text size. 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1683f9263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1683f9263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2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ubTitle" idx="2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">
  <p:cSld name="CUSTOM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4" descr="DeveloperDays-Europe-Slide-Templates_updated-03.jpg"/>
          <p:cNvPicPr preferRelativeResize="0"/>
          <p:nvPr/>
        </p:nvPicPr>
        <p:blipFill rotWithShape="1">
          <a:blip r:embed="rId2">
            <a:alphaModFix/>
          </a:blip>
          <a:srcRect l="29" r="19"/>
          <a:stretch/>
        </p:blipFill>
        <p:spPr>
          <a:xfrm>
            <a:off x="0" y="0"/>
            <a:ext cx="9143998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2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" name="Google Shape;119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6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28" name="Google Shape;128;p26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6"/>
          <p:cNvSpPr txBox="1">
            <a:spLocks noGrp="1"/>
          </p:cNvSpPr>
          <p:nvPr>
            <p:ph type="sldNum" idx="4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6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5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79" name="Google Shape;279;p55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0" name="Google Shape;280;p5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6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3" name="Google Shape;283;p5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5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5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88" name="Google Shape;288;p5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8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1" name="Google Shape;291;p58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2" name="Google Shape;292;p5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5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5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5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5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1" name="Google Shape;301;p6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2" name="Google Shape;302;p6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5" name="Google Shape;305;p6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6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9" name="Google Shape;309;p6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0" name="Google Shape;310;p6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1" name="Google Shape;311;p6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3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314" name="Google Shape;314;p6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7" name="Google Shape;317;p6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8" name="Google Shape;318;p6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65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6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65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65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25" name="Google Shape;325;p65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6" name="Google Shape;326;p65"/>
          <p:cNvSpPr txBox="1">
            <a:spLocks noGrp="1"/>
          </p:cNvSpPr>
          <p:nvPr>
            <p:ph type="sldNum" idx="3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65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71" name="Google Shape;271;p5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5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android.com/reference/android/widget/ScrollView.html" TargetMode="External"/><Relationship Id="rId3" Type="http://schemas.openxmlformats.org/officeDocument/2006/relationships/hyperlink" Target="http://developer.android.com/reference/android/view/View.html" TargetMode="External"/><Relationship Id="rId7" Type="http://schemas.openxmlformats.org/officeDocument/2006/relationships/hyperlink" Target="https://developer.android.com/guide/topics/ui/menus.html" TargetMode="External"/><Relationship Id="rId12" Type="http://schemas.openxmlformats.org/officeDocument/2006/relationships/hyperlink" Target="https://developer.android.com/reference/android/widget/LinearLayout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android.com/reference/android/widget/Button.html" TargetMode="External"/><Relationship Id="rId11" Type="http://schemas.openxmlformats.org/officeDocument/2006/relationships/hyperlink" Target="https://developer.android.com/reference/android/support/constraint/ConstraintLayout.html" TargetMode="External"/><Relationship Id="rId5" Type="http://schemas.openxmlformats.org/officeDocument/2006/relationships/hyperlink" Target="https://developer.android.com/reference/android/widget/EditText.html" TargetMode="External"/><Relationship Id="rId10" Type="http://schemas.openxmlformats.org/officeDocument/2006/relationships/hyperlink" Target="https://developer.android.com/reference/android/widget/ImageView.html" TargetMode="External"/><Relationship Id="rId4" Type="http://schemas.openxmlformats.org/officeDocument/2006/relationships/hyperlink" Target="http://developer.android.com/reference/android/widget/TextView.html" TargetMode="External"/><Relationship Id="rId9" Type="http://schemas.openxmlformats.org/officeDocument/2006/relationships/hyperlink" Target="https://developer.android.com/reference/android/widget/RecyclerView.html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content/Context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view/View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android.com/training/custom-views/create-view.html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support/constraint/ConstraintLayout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.android.com/reference/android/support/v7/widget/RecyclerView.html" TargetMode="External"/><Relationship Id="rId4" Type="http://schemas.openxmlformats.org/officeDocument/2006/relationships/hyperlink" Target="https://developer.android.com/reference/android/widget/ScrollView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view/ViewGroup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gi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android/reference/com/google/android/gms/location/DetectedActivity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339" name="Google Shape;339;p67"/>
          <p:cNvSpPr txBox="1">
            <a:spLocks noGrp="1"/>
          </p:cNvSpPr>
          <p:nvPr>
            <p:ph type="sldNum" idx="4294967295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340" name="Google Shape;340;p67"/>
          <p:cNvSpPr txBox="1">
            <a:spLocks noGrp="1"/>
          </p:cNvSpPr>
          <p:nvPr>
            <p:ph type="title"/>
          </p:nvPr>
        </p:nvSpPr>
        <p:spPr>
          <a:xfrm>
            <a:off x="195700" y="1288400"/>
            <a:ext cx="4045200" cy="151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LAYOUTS</a:t>
            </a:r>
            <a:endParaRPr dirty="0"/>
          </a:p>
        </p:txBody>
      </p:sp>
      <p:sp>
        <p:nvSpPr>
          <p:cNvPr id="341" name="Google Shape;341;p67"/>
          <p:cNvSpPr txBox="1">
            <a:spLocks noGrp="1"/>
          </p:cNvSpPr>
          <p:nvPr>
            <p:ph type="sldNum" idx="4294967295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342" name="Google Shape;342;p67"/>
          <p:cNvSpPr txBox="1">
            <a:spLocks noGrp="1"/>
          </p:cNvSpPr>
          <p:nvPr>
            <p:ph type="subTitle" idx="2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H" dirty="0"/>
              <a:t>CTAPDEVL</a:t>
            </a:r>
          </a:p>
        </p:txBody>
      </p:sp>
      <p:sp>
        <p:nvSpPr>
          <p:cNvPr id="343" name="Google Shape;343;p67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600" dirty="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Prepared by: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600" dirty="0" err="1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Elizer</a:t>
            </a:r>
            <a:r>
              <a:rPr lang="en-PH" sz="16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 Ponio Jr.</a:t>
            </a:r>
            <a:endParaRPr lang="en-PH" sz="1600" dirty="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Views</a:t>
            </a:r>
            <a:endParaRPr/>
          </a:p>
        </p:txBody>
      </p:sp>
      <p:sp>
        <p:nvSpPr>
          <p:cNvPr id="362" name="Google Shape;362;p7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7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you see is a view</a:t>
            </a:r>
            <a:endParaRPr/>
          </a:p>
        </p:txBody>
      </p:sp>
      <p:sp>
        <p:nvSpPr>
          <p:cNvPr id="368" name="Google Shape;368;p71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5647200" cy="17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you look at your mobile device,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dk1"/>
                </a:solidFill>
              </a:rPr>
              <a:t>every user interface element that you see is a </a:t>
            </a:r>
            <a:r>
              <a:rPr lang="en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9" name="Google Shape;369;p7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370" name="Google Shape;370;p71"/>
          <p:cNvSpPr txBox="1"/>
          <p:nvPr/>
        </p:nvSpPr>
        <p:spPr>
          <a:xfrm>
            <a:off x="4569200" y="2833450"/>
            <a:ext cx="1190700" cy="6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Views</a:t>
            </a:r>
            <a:endParaRPr sz="2400"/>
          </a:p>
        </p:txBody>
      </p:sp>
      <p:pic>
        <p:nvPicPr>
          <p:cNvPr id="371" name="Google Shape;37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3575" y="1076274"/>
            <a:ext cx="1936424" cy="345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372" name="Google Shape;372;p71"/>
          <p:cNvCxnSpPr/>
          <p:nvPr/>
        </p:nvCxnSpPr>
        <p:spPr>
          <a:xfrm flipH="1">
            <a:off x="5548975" y="1685325"/>
            <a:ext cx="1420800" cy="14208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3" name="Google Shape;373;p71"/>
          <p:cNvCxnSpPr/>
          <p:nvPr/>
        </p:nvCxnSpPr>
        <p:spPr>
          <a:xfrm rot="10800000">
            <a:off x="5546244" y="3100250"/>
            <a:ext cx="1338600" cy="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4" name="Google Shape;374;p71"/>
          <p:cNvCxnSpPr/>
          <p:nvPr/>
        </p:nvCxnSpPr>
        <p:spPr>
          <a:xfrm rot="10800000">
            <a:off x="5549125" y="3100400"/>
            <a:ext cx="979800" cy="9798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view?</a:t>
            </a:r>
            <a:endParaRPr/>
          </a:p>
        </p:txBody>
      </p:sp>
      <p:sp>
        <p:nvSpPr>
          <p:cNvPr id="380" name="Google Shape;380;p72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View</a:t>
            </a:r>
            <a:r>
              <a:rPr lang="en"/>
              <a:t> subclasses are basic user interface building blocks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Display text (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TextView</a:t>
            </a:r>
            <a:r>
              <a:rPr lang="en"/>
              <a:t> class), edit text (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EditText</a:t>
            </a:r>
            <a:r>
              <a:rPr lang="en"/>
              <a:t> class)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Buttons (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Button</a:t>
            </a:r>
            <a:r>
              <a:rPr lang="en"/>
              <a:t> class), </a:t>
            </a: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menus</a:t>
            </a:r>
            <a:r>
              <a:rPr lang="en"/>
              <a:t>, other controls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Scrollable (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8"/>
              </a:rPr>
              <a:t>ScrollView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9"/>
              </a:rPr>
              <a:t>RecyclerView</a:t>
            </a:r>
            <a:r>
              <a:rPr lang="en"/>
              <a:t>)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Show images (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10"/>
              </a:rPr>
              <a:t>ImageView</a:t>
            </a:r>
            <a:r>
              <a:rPr lang="en"/>
              <a:t>)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Group views (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ConstraintLayout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LinearLayout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81" name="Google Shape;381;p7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3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Examples of view subclasses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87" name="Google Shape;387;p7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88" name="Google Shape;388;p73"/>
          <p:cNvSpPr txBox="1"/>
          <p:nvPr/>
        </p:nvSpPr>
        <p:spPr>
          <a:xfrm>
            <a:off x="328525" y="1567025"/>
            <a:ext cx="18273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Button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EditText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Slider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" name="Google Shape;389;p73"/>
          <p:cNvSpPr txBox="1"/>
          <p:nvPr/>
        </p:nvSpPr>
        <p:spPr>
          <a:xfrm>
            <a:off x="4501150" y="1485400"/>
            <a:ext cx="2223600" cy="23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CheckBox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RadioButton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0" name="Google Shape;39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4875" y="1567025"/>
            <a:ext cx="150645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4875" y="2408950"/>
            <a:ext cx="231896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4875" y="3149500"/>
            <a:ext cx="146871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4050" y="1485399"/>
            <a:ext cx="1506450" cy="641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44050" y="2408950"/>
            <a:ext cx="1506450" cy="645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7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44039" y="3206225"/>
            <a:ext cx="825782" cy="10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74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View attributes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1" name="Google Shape;401;p7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Color, dimensions, positioning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May have focus (e.g., selected to receive user input)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May be interactive (respond to user clicks)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May be visible or not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Relationships to other views</a:t>
            </a:r>
            <a:endParaRPr/>
          </a:p>
        </p:txBody>
      </p:sp>
      <p:sp>
        <p:nvSpPr>
          <p:cNvPr id="402" name="Google Shape;402;p7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Create views and layouts</a:t>
            </a:r>
            <a:endParaRPr/>
          </a:p>
        </p:txBody>
      </p:sp>
      <p:sp>
        <p:nvSpPr>
          <p:cNvPr id="408" name="Google Shape;408;p75"/>
          <p:cNvSpPr txBox="1">
            <a:spLocks noGrp="1"/>
          </p:cNvSpPr>
          <p:nvPr>
            <p:ph type="body" idx="1"/>
          </p:nvPr>
        </p:nvSpPr>
        <p:spPr>
          <a:xfrm>
            <a:off x="311700" y="11007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Android Studio layout editor: visual representation of XML 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XML editor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Java code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409" name="Google Shape;409;p7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6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Android Studio layout editor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5" name="Google Shape;415;p7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416" name="Google Shape;41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42400"/>
            <a:ext cx="5174699" cy="358247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76"/>
          <p:cNvSpPr txBox="1">
            <a:spLocks noGrp="1"/>
          </p:cNvSpPr>
          <p:nvPr>
            <p:ph type="body" idx="1"/>
          </p:nvPr>
        </p:nvSpPr>
        <p:spPr>
          <a:xfrm>
            <a:off x="5894175" y="1100750"/>
            <a:ext cx="2938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XML layout file 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 b="1">
                <a:solidFill>
                  <a:schemeClr val="dk1"/>
                </a:solidFill>
              </a:rPr>
              <a:t>Design</a:t>
            </a:r>
            <a:r>
              <a:rPr lang="en" sz="2000">
                <a:solidFill>
                  <a:schemeClr val="dk1"/>
                </a:solidFill>
              </a:rPr>
              <a:t> and </a:t>
            </a:r>
            <a:r>
              <a:rPr lang="en" sz="2000" b="1">
                <a:solidFill>
                  <a:schemeClr val="dk1"/>
                </a:solidFill>
              </a:rPr>
              <a:t>Text</a:t>
            </a:r>
            <a:r>
              <a:rPr lang="en" sz="2000">
                <a:solidFill>
                  <a:schemeClr val="dk1"/>
                </a:solidFill>
              </a:rPr>
              <a:t> tabs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 b="1">
                <a:solidFill>
                  <a:schemeClr val="dk1"/>
                </a:solidFill>
              </a:rPr>
              <a:t>Palette</a:t>
            </a:r>
            <a:r>
              <a:rPr lang="en" sz="2000">
                <a:solidFill>
                  <a:schemeClr val="dk1"/>
                </a:solidFill>
              </a:rPr>
              <a:t> pane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 b="1">
                <a:solidFill>
                  <a:schemeClr val="dk1"/>
                </a:solidFill>
              </a:rPr>
              <a:t>Component Tree</a:t>
            </a:r>
            <a:r>
              <a:rPr lang="en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Design and blueprint panes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 b="1">
                <a:solidFill>
                  <a:schemeClr val="dk1"/>
                </a:solidFill>
              </a:rPr>
              <a:t>Attributes</a:t>
            </a:r>
            <a:r>
              <a:rPr lang="en" sz="2000">
                <a:solidFill>
                  <a:schemeClr val="dk1"/>
                </a:solidFill>
              </a:rPr>
              <a:t> tab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7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View defined in XML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3" name="Google Shape;423;p7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latin typeface="Consolas"/>
                <a:ea typeface="Consolas"/>
                <a:cs typeface="Consolas"/>
                <a:sym typeface="Consolas"/>
              </a:rPr>
              <a:t>&lt;TextView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android:id="@+id/show_count"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android:layout_width="match_parent"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android:layout_height="wrap_content"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android:background="@color/myBackgroundColor"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android:text="@string/count_initial_value"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android:textColor="@color/colorPrimary"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android:textSize="@dimen/count_text_size"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android:textStyle="bold"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4" name="Google Shape;424;p7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8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View attributes in XML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0" name="Google Shape;430;p7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431" name="Google Shape;431;p78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latin typeface="Consolas"/>
                <a:ea typeface="Consolas"/>
                <a:cs typeface="Consolas"/>
                <a:sym typeface="Consolas"/>
              </a:rPr>
              <a:t>android:&lt;property_name&gt;="&lt;property_value&gt;"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latin typeface="Consolas"/>
                <a:ea typeface="Consolas"/>
                <a:cs typeface="Consolas"/>
                <a:sym typeface="Consolas"/>
              </a:rPr>
              <a:t>Example: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android:layout_width="match_parent"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latin typeface="Consolas"/>
                <a:ea typeface="Consolas"/>
                <a:cs typeface="Consolas"/>
                <a:sym typeface="Consolas"/>
              </a:rPr>
              <a:t>android:&lt;property_name&gt;="@&lt;resource_type&gt;/resource_id"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latin typeface="Consolas"/>
                <a:ea typeface="Consolas"/>
                <a:cs typeface="Consolas"/>
                <a:sym typeface="Consolas"/>
              </a:rPr>
              <a:t>Example: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android:text="@string/button_label_next"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latin typeface="Consolas"/>
                <a:ea typeface="Consolas"/>
                <a:cs typeface="Consolas"/>
                <a:sym typeface="Consolas"/>
              </a:rPr>
              <a:t>android:&lt;property_name&gt;="@+id/view_id"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latin typeface="Consolas"/>
                <a:ea typeface="Consolas"/>
                <a:cs typeface="Consolas"/>
                <a:sym typeface="Consolas"/>
              </a:rPr>
              <a:t>Example: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android:id="@+id/show_count"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9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Create View in Java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7" name="Google Shape;437;p79"/>
          <p:cNvSpPr txBox="1">
            <a:spLocks noGrp="1"/>
          </p:cNvSpPr>
          <p:nvPr>
            <p:ph type="body" idx="1"/>
          </p:nvPr>
        </p:nvSpPr>
        <p:spPr>
          <a:xfrm>
            <a:off x="311700" y="1457275"/>
            <a:ext cx="8423400" cy="26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: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TextView myText = new TextView(</a:t>
            </a:r>
            <a:r>
              <a:rPr lang="en" b="1"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myText.setText("Display this text!");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8" name="Google Shape;438;p7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439" name="Google Shape;439;p79"/>
          <p:cNvSpPr txBox="1"/>
          <p:nvPr/>
        </p:nvSpPr>
        <p:spPr>
          <a:xfrm>
            <a:off x="5287625" y="1097425"/>
            <a:ext cx="1285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999999"/>
                </a:solidFill>
              </a:rPr>
              <a:t>context</a:t>
            </a:r>
            <a:endParaRPr sz="2400" i="1">
              <a:solidFill>
                <a:srgbClr val="999999"/>
              </a:solidFill>
            </a:endParaRPr>
          </a:p>
        </p:txBody>
      </p:sp>
      <p:cxnSp>
        <p:nvCxnSpPr>
          <p:cNvPr id="440" name="Google Shape;440;p79"/>
          <p:cNvCxnSpPr/>
          <p:nvPr/>
        </p:nvCxnSpPr>
        <p:spPr>
          <a:xfrm flipH="1">
            <a:off x="5919425" y="1651525"/>
            <a:ext cx="11100" cy="487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80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What is the context?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6" name="Google Shape;446;p80"/>
          <p:cNvSpPr txBox="1">
            <a:spLocks noGrp="1"/>
          </p:cNvSpPr>
          <p:nvPr>
            <p:ph type="body" idx="1"/>
          </p:nvPr>
        </p:nvSpPr>
        <p:spPr>
          <a:xfrm>
            <a:off x="249125" y="1068450"/>
            <a:ext cx="8520600" cy="3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Context</a:t>
            </a:r>
            <a:r>
              <a:rPr lang="en"/>
              <a:t> is an interface to global information about an application environment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Get the context: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Context context = getApplicationContext();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is its own context:</a:t>
            </a:r>
            <a:br>
              <a:rPr lang="en"/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TextView myText = new TextView(</a:t>
            </a:r>
            <a:r>
              <a:rPr lang="en" b="1"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7" name="Google Shape;447;p8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81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Custom views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53" name="Google Shape;453;p81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Over 100 (!) different types of views available from the Android system, all children of the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View</a:t>
            </a:r>
            <a:r>
              <a:rPr lang="en"/>
              <a:t> class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necessary, </a:t>
            </a:r>
            <a:r>
              <a:rPr lang="en" u="sng">
                <a:solidFill>
                  <a:schemeClr val="hlink"/>
                </a:solidFill>
                <a:hlinkClick r:id="rId4"/>
              </a:rPr>
              <a:t>create custom views</a:t>
            </a:r>
            <a:r>
              <a:rPr lang="en"/>
              <a:t> by subclassing existing views or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/>
              <a:t> class</a:t>
            </a:r>
            <a:endParaRPr/>
          </a:p>
        </p:txBody>
      </p:sp>
      <p:sp>
        <p:nvSpPr>
          <p:cNvPr id="454" name="Google Shape;454;p8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8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ViewGroup and View hierarchy</a:t>
            </a:r>
            <a:endParaRPr/>
          </a:p>
        </p:txBody>
      </p:sp>
      <p:sp>
        <p:nvSpPr>
          <p:cNvPr id="460" name="Google Shape;460;p8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3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ViewGroup contains "child" views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66" name="Google Shape;466;p8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ConstraintLayout</a:t>
            </a:r>
            <a:r>
              <a:rPr lang="en">
                <a:solidFill>
                  <a:srgbClr val="000000"/>
                </a:solidFill>
              </a:rPr>
              <a:t>: P</a:t>
            </a:r>
            <a:r>
              <a:rPr lang="en"/>
              <a:t>ositions</a:t>
            </a:r>
            <a:r>
              <a:rPr lang="en">
                <a:solidFill>
                  <a:srgbClr val="000000"/>
                </a:solidFill>
              </a:rPr>
              <a:t> UI elements using constraint connections to other elements and to the layout edges</a:t>
            </a:r>
            <a:endParaRPr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ScrollView</a:t>
            </a:r>
            <a:r>
              <a:rPr lang="en">
                <a:solidFill>
                  <a:srgbClr val="000000"/>
                </a:solidFill>
              </a:rPr>
              <a:t>: Contains one element and enables scrolling </a:t>
            </a:r>
            <a:endParaRPr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RecyclerView</a:t>
            </a:r>
            <a:r>
              <a:rPr lang="en">
                <a:solidFill>
                  <a:srgbClr val="000000"/>
                </a:solidFill>
              </a:rPr>
              <a:t>: Contains a list of elements and enables scrolling by adding and removing elements dynamically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67" name="Google Shape;467;p8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8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ViewGroups for layouts </a:t>
            </a:r>
            <a:endParaRPr/>
          </a:p>
        </p:txBody>
      </p:sp>
      <p:sp>
        <p:nvSpPr>
          <p:cNvPr id="473" name="Google Shape;473;p8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Layouts 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are specific types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ViewGroups</a:t>
            </a:r>
            <a:r>
              <a:rPr lang="en"/>
              <a:t> (subclasses of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ViewGroup</a:t>
            </a:r>
            <a:r>
              <a:rPr lang="en"/>
              <a:t>)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contain child views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be in a row, column, grid, table, absolute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  <p:sp>
        <p:nvSpPr>
          <p:cNvPr id="474" name="Google Shape;474;p8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8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Common Layout Classes</a:t>
            </a:r>
            <a:endParaRPr/>
          </a:p>
        </p:txBody>
      </p:sp>
      <p:sp>
        <p:nvSpPr>
          <p:cNvPr id="480" name="Google Shape;480;p8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481" name="Google Shape;48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925" y="1620048"/>
            <a:ext cx="1952225" cy="14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4678" y="1620050"/>
            <a:ext cx="1952225" cy="1439763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85"/>
          <p:cNvSpPr txBox="1"/>
          <p:nvPr/>
        </p:nvSpPr>
        <p:spPr>
          <a:xfrm>
            <a:off x="9187" y="3265925"/>
            <a:ext cx="2279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LinearLayout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4" name="Google Shape;484;p85"/>
          <p:cNvSpPr txBox="1"/>
          <p:nvPr/>
        </p:nvSpPr>
        <p:spPr>
          <a:xfrm>
            <a:off x="2125150" y="3265925"/>
            <a:ext cx="2421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ConstraintLayout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5" name="Google Shape;485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6425" y="1620050"/>
            <a:ext cx="1952225" cy="143976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5"/>
          <p:cNvSpPr txBox="1"/>
          <p:nvPr/>
        </p:nvSpPr>
        <p:spPr>
          <a:xfrm>
            <a:off x="4631925" y="3265925"/>
            <a:ext cx="168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GridLayout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7" name="Google Shape;487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8175" y="1620049"/>
            <a:ext cx="1952225" cy="1439767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85"/>
          <p:cNvSpPr txBox="1"/>
          <p:nvPr/>
        </p:nvSpPr>
        <p:spPr>
          <a:xfrm>
            <a:off x="6658246" y="3265925"/>
            <a:ext cx="1952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TableLayout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89" name="Google Shape;489;p85"/>
          <p:cNvCxnSpPr/>
          <p:nvPr/>
        </p:nvCxnSpPr>
        <p:spPr>
          <a:xfrm>
            <a:off x="3447525" y="2817350"/>
            <a:ext cx="2409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90" name="Google Shape;490;p85"/>
          <p:cNvCxnSpPr/>
          <p:nvPr/>
        </p:nvCxnSpPr>
        <p:spPr>
          <a:xfrm flipH="1">
            <a:off x="3011868" y="2594925"/>
            <a:ext cx="370800" cy="13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91" name="Google Shape;491;p85"/>
          <p:cNvCxnSpPr/>
          <p:nvPr/>
        </p:nvCxnSpPr>
        <p:spPr>
          <a:xfrm>
            <a:off x="3317782" y="2594925"/>
            <a:ext cx="537300" cy="1299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Common Layout Classes</a:t>
            </a:r>
            <a:endParaRPr/>
          </a:p>
        </p:txBody>
      </p:sp>
      <p:sp>
        <p:nvSpPr>
          <p:cNvPr id="497" name="Google Shape;497;p86"/>
          <p:cNvSpPr txBox="1">
            <a:spLocks noGrp="1"/>
          </p:cNvSpPr>
          <p:nvPr>
            <p:ph type="body" idx="1"/>
          </p:nvPr>
        </p:nvSpPr>
        <p:spPr>
          <a:xfrm>
            <a:off x="311700" y="1021675"/>
            <a:ext cx="8709300" cy="347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ConstraintLayout</a:t>
            </a:r>
            <a:r>
              <a:rPr lang="en">
                <a:solidFill>
                  <a:srgbClr val="000000"/>
                </a:solidFill>
              </a:rPr>
              <a:t>: </a:t>
            </a:r>
            <a:r>
              <a:rPr lang="en"/>
              <a:t>Connect views with constraints </a:t>
            </a:r>
            <a:endParaRPr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>
                <a:solidFill>
                  <a:srgbClr val="000000"/>
                </a:solidFill>
              </a:rPr>
              <a:t>: Horizontal or vertical row</a:t>
            </a:r>
            <a:endParaRPr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RelativeLayout</a:t>
            </a:r>
            <a:r>
              <a:rPr lang="en">
                <a:solidFill>
                  <a:srgbClr val="000000"/>
                </a:solidFill>
              </a:rPr>
              <a:t>: Child views relative to each other</a:t>
            </a:r>
            <a:endParaRPr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TableLayout</a:t>
            </a:r>
            <a:r>
              <a:rPr lang="en">
                <a:solidFill>
                  <a:srgbClr val="000000"/>
                </a:solidFill>
              </a:rPr>
              <a:t>: Rows and columns</a:t>
            </a:r>
            <a:endParaRPr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FrameLayout</a:t>
            </a:r>
            <a:r>
              <a:rPr lang="en">
                <a:solidFill>
                  <a:srgbClr val="000000"/>
                </a:solidFill>
              </a:rPr>
              <a:t>: Shows one child of a stack of children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  <p:sp>
        <p:nvSpPr>
          <p:cNvPr id="498" name="Google Shape;498;p8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Class hierarchy vs. layout hierarchy</a:t>
            </a:r>
            <a:endParaRPr/>
          </a:p>
        </p:txBody>
      </p:sp>
      <p:sp>
        <p:nvSpPr>
          <p:cNvPr id="504" name="Google Shape;504;p8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</a:rPr>
              <a:t> class-hierarchy is standard object-oriented class inheritance</a:t>
            </a:r>
            <a:endParaRPr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For example,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">
                <a:solidFill>
                  <a:schemeClr val="dk1"/>
                </a:solidFill>
              </a:rPr>
              <a:t> is-a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en">
                <a:solidFill>
                  <a:schemeClr val="dk1"/>
                </a:solidFill>
              </a:rPr>
              <a:t> is-a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</a:rPr>
              <a:t> is-an Object</a:t>
            </a:r>
            <a:endParaRPr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Superclass-subclass relationship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Layout hierarchy is how views are visually arranged</a:t>
            </a:r>
            <a:endParaRPr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For example,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>
                <a:solidFill>
                  <a:schemeClr val="dk1"/>
                </a:solidFill>
              </a:rPr>
              <a:t> can contain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">
                <a:solidFill>
                  <a:schemeClr val="dk1"/>
                </a:solidFill>
              </a:rPr>
              <a:t>s arranged in a row</a:t>
            </a:r>
            <a:endParaRPr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Parent-child relationship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5" name="Google Shape;505;p8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Hierarchy of viewgroups and views</a:t>
            </a:r>
            <a:endParaRPr/>
          </a:p>
        </p:txBody>
      </p:sp>
      <p:sp>
        <p:nvSpPr>
          <p:cNvPr id="511" name="Google Shape;511;p8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512" name="Google Shape;512;p88"/>
          <p:cNvSpPr/>
          <p:nvPr/>
        </p:nvSpPr>
        <p:spPr>
          <a:xfrm>
            <a:off x="3577750" y="1294275"/>
            <a:ext cx="1566000" cy="5727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ViewGroup</a:t>
            </a:r>
            <a:endParaRPr b="1"/>
          </a:p>
        </p:txBody>
      </p:sp>
      <p:sp>
        <p:nvSpPr>
          <p:cNvPr id="513" name="Google Shape;513;p88"/>
          <p:cNvSpPr/>
          <p:nvPr/>
        </p:nvSpPr>
        <p:spPr>
          <a:xfrm>
            <a:off x="1914000" y="2251450"/>
            <a:ext cx="1566000" cy="5727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ViewGroup</a:t>
            </a:r>
            <a:endParaRPr b="1"/>
          </a:p>
        </p:txBody>
      </p:sp>
      <p:sp>
        <p:nvSpPr>
          <p:cNvPr id="514" name="Google Shape;514;p88"/>
          <p:cNvSpPr/>
          <p:nvPr/>
        </p:nvSpPr>
        <p:spPr>
          <a:xfrm>
            <a:off x="3838900" y="2251450"/>
            <a:ext cx="1043700" cy="572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View</a:t>
            </a:r>
            <a:endParaRPr b="1"/>
          </a:p>
        </p:txBody>
      </p:sp>
      <p:sp>
        <p:nvSpPr>
          <p:cNvPr id="515" name="Google Shape;515;p88"/>
          <p:cNvSpPr/>
          <p:nvPr/>
        </p:nvSpPr>
        <p:spPr>
          <a:xfrm>
            <a:off x="5187475" y="2251450"/>
            <a:ext cx="1043700" cy="572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View</a:t>
            </a:r>
            <a:endParaRPr b="1"/>
          </a:p>
        </p:txBody>
      </p:sp>
      <p:sp>
        <p:nvSpPr>
          <p:cNvPr id="516" name="Google Shape;516;p88"/>
          <p:cNvSpPr/>
          <p:nvPr/>
        </p:nvSpPr>
        <p:spPr>
          <a:xfrm>
            <a:off x="718350" y="3284825"/>
            <a:ext cx="1043700" cy="572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View</a:t>
            </a:r>
            <a:endParaRPr b="1"/>
          </a:p>
        </p:txBody>
      </p:sp>
      <p:sp>
        <p:nvSpPr>
          <p:cNvPr id="517" name="Google Shape;517;p88"/>
          <p:cNvSpPr/>
          <p:nvPr/>
        </p:nvSpPr>
        <p:spPr>
          <a:xfrm>
            <a:off x="1914000" y="3284825"/>
            <a:ext cx="1043700" cy="572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View</a:t>
            </a:r>
            <a:endParaRPr b="1"/>
          </a:p>
        </p:txBody>
      </p:sp>
      <p:sp>
        <p:nvSpPr>
          <p:cNvPr id="518" name="Google Shape;518;p88"/>
          <p:cNvSpPr/>
          <p:nvPr/>
        </p:nvSpPr>
        <p:spPr>
          <a:xfrm>
            <a:off x="3109650" y="3284825"/>
            <a:ext cx="1043700" cy="572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View</a:t>
            </a:r>
            <a:endParaRPr b="1"/>
          </a:p>
        </p:txBody>
      </p:sp>
      <p:cxnSp>
        <p:nvCxnSpPr>
          <p:cNvPr id="519" name="Google Shape;519;p88"/>
          <p:cNvCxnSpPr>
            <a:stCxn id="512" idx="2"/>
            <a:endCxn id="513" idx="0"/>
          </p:cNvCxnSpPr>
          <p:nvPr/>
        </p:nvCxnSpPr>
        <p:spPr>
          <a:xfrm flipH="1">
            <a:off x="2696950" y="1866975"/>
            <a:ext cx="1663800" cy="384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0" name="Google Shape;520;p88"/>
          <p:cNvCxnSpPr>
            <a:stCxn id="512" idx="2"/>
            <a:endCxn id="514" idx="0"/>
          </p:cNvCxnSpPr>
          <p:nvPr/>
        </p:nvCxnSpPr>
        <p:spPr>
          <a:xfrm>
            <a:off x="4360750" y="1866975"/>
            <a:ext cx="0" cy="384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1" name="Google Shape;521;p88"/>
          <p:cNvCxnSpPr>
            <a:stCxn id="512" idx="2"/>
            <a:endCxn id="515" idx="0"/>
          </p:cNvCxnSpPr>
          <p:nvPr/>
        </p:nvCxnSpPr>
        <p:spPr>
          <a:xfrm>
            <a:off x="4360750" y="1866975"/>
            <a:ext cx="1348500" cy="384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2" name="Google Shape;522;p88"/>
          <p:cNvCxnSpPr>
            <a:stCxn id="513" idx="2"/>
            <a:endCxn id="516" idx="0"/>
          </p:cNvCxnSpPr>
          <p:nvPr/>
        </p:nvCxnSpPr>
        <p:spPr>
          <a:xfrm flipH="1">
            <a:off x="1240200" y="2824150"/>
            <a:ext cx="1456800" cy="46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3" name="Google Shape;523;p88"/>
          <p:cNvCxnSpPr>
            <a:stCxn id="513" idx="2"/>
            <a:endCxn id="517" idx="0"/>
          </p:cNvCxnSpPr>
          <p:nvPr/>
        </p:nvCxnSpPr>
        <p:spPr>
          <a:xfrm flipH="1">
            <a:off x="2436000" y="2824150"/>
            <a:ext cx="261000" cy="46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4" name="Google Shape;524;p88"/>
          <p:cNvCxnSpPr>
            <a:stCxn id="513" idx="2"/>
            <a:endCxn id="518" idx="0"/>
          </p:cNvCxnSpPr>
          <p:nvPr/>
        </p:nvCxnSpPr>
        <p:spPr>
          <a:xfrm>
            <a:off x="2697000" y="2824150"/>
            <a:ext cx="934500" cy="46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5" name="Google Shape;525;p88"/>
          <p:cNvSpPr txBox="1"/>
          <p:nvPr/>
        </p:nvSpPr>
        <p:spPr>
          <a:xfrm>
            <a:off x="5505975" y="1343325"/>
            <a:ext cx="3637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Root view is always a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ViewGroup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8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hierarchy and screen layout</a:t>
            </a:r>
            <a:endParaRPr/>
          </a:p>
        </p:txBody>
      </p:sp>
      <p:sp>
        <p:nvSpPr>
          <p:cNvPr id="531" name="Google Shape;531;p8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532" name="Google Shape;532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825" y="987800"/>
            <a:ext cx="6086400" cy="36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9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hierarchy in the layout editor</a:t>
            </a:r>
            <a:endParaRPr/>
          </a:p>
        </p:txBody>
      </p:sp>
      <p:sp>
        <p:nvSpPr>
          <p:cNvPr id="538" name="Google Shape;538;p9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539" name="Google Shape;539;p90"/>
          <p:cNvPicPr preferRelativeResize="0"/>
          <p:nvPr/>
        </p:nvPicPr>
        <p:blipFill rotWithShape="1">
          <a:blip r:embed="rId3">
            <a:alphaModFix/>
          </a:blip>
          <a:srcRect l="25718" t="21287" r="21415" b="36052"/>
          <a:stretch/>
        </p:blipFill>
        <p:spPr>
          <a:xfrm>
            <a:off x="1702250" y="1012125"/>
            <a:ext cx="6048076" cy="3531976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90"/>
          <p:cNvSpPr/>
          <p:nvPr/>
        </p:nvSpPr>
        <p:spPr>
          <a:xfrm>
            <a:off x="1702212" y="1012125"/>
            <a:ext cx="2629200" cy="1149600"/>
          </a:xfrm>
          <a:prstGeom prst="rect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1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Layout created in XML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6" name="Google Shape;546;p91"/>
          <p:cNvSpPr txBox="1">
            <a:spLocks noGrp="1"/>
          </p:cNvSpPr>
          <p:nvPr>
            <p:ph type="body" idx="1"/>
          </p:nvPr>
        </p:nvSpPr>
        <p:spPr>
          <a:xfrm>
            <a:off x="311700" y="954550"/>
            <a:ext cx="8520600" cy="3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2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LinearLayout </a:t>
            </a:r>
            <a:endParaRPr sz="2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200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2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:orientation=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"vertical"</a:t>
            </a:r>
            <a:endParaRPr sz="2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200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2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:layout_width=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"match_parent"</a:t>
            </a:r>
            <a:endParaRPr sz="2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200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2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:layout_height=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"match_parent"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2000">
                <a:solidFill>
                  <a:srgbClr val="000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Button</a:t>
            </a:r>
            <a:endParaRPr sz="2000">
              <a:solidFill>
                <a:srgbClr val="00008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2000">
                <a:solidFill>
                  <a:srgbClr val="660E7A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 sz="200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n" sz="2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TextView</a:t>
            </a:r>
            <a:endParaRPr sz="200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200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n" sz="2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Button</a:t>
            </a:r>
            <a:endParaRPr sz="200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200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&lt;/LinearLayout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7" name="Google Shape;547;p9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92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Layout created in Java Activity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3" name="Google Shape;553;p92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832300" cy="3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LinearLayout linearL = new LinearLayout(this);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linearL.setOrientation(LinearLayout.VERTICAL);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TextView myText = new TextView(this);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myText.setText("Display this text!");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linearL.addView(myText);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setContentView(linearL);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4" name="Google Shape;554;p9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9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width and height in Java code</a:t>
            </a:r>
            <a:endParaRPr/>
          </a:p>
        </p:txBody>
      </p:sp>
      <p:sp>
        <p:nvSpPr>
          <p:cNvPr id="560" name="Google Shape;560;p93"/>
          <p:cNvSpPr txBox="1">
            <a:spLocks noGrp="1"/>
          </p:cNvSpPr>
          <p:nvPr>
            <p:ph type="body" idx="1"/>
          </p:nvPr>
        </p:nvSpPr>
        <p:spPr>
          <a:xfrm>
            <a:off x="2355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Set the width and height of a view: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LinearLayout.LayoutParams layoutParams =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new Linear.LayoutParams(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LayoutParams.MATCH_PARENT, 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LayoutParams.MATCH_CONTENT);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myView.setLayoutParams(layoutParams);</a:t>
            </a:r>
            <a:endParaRPr>
              <a:solidFill>
                <a:srgbClr val="303336"/>
              </a:solidFill>
              <a:highlight>
                <a:srgbClr val="EFF0F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61" name="Google Shape;561;p9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9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for view hierarchies</a:t>
            </a:r>
            <a:endParaRPr/>
          </a:p>
        </p:txBody>
      </p:sp>
      <p:sp>
        <p:nvSpPr>
          <p:cNvPr id="567" name="Google Shape;567;p9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568" name="Google Shape;568;p94"/>
          <p:cNvSpPr txBox="1"/>
          <p:nvPr/>
        </p:nvSpPr>
        <p:spPr>
          <a:xfrm>
            <a:off x="87150" y="1088325"/>
            <a:ext cx="8868600" cy="3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Arrangement of view hierarchy affects app performance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Use smallest number of simplest views possible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Keep the hierarchy flat—limit nesting of views and view groups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236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layout editor and Constraint</a:t>
            </a:r>
            <a:br>
              <a:rPr lang="en"/>
            </a:br>
            <a:r>
              <a:rPr lang="en"/>
              <a:t>Layout</a:t>
            </a:r>
            <a:endParaRPr/>
          </a:p>
        </p:txBody>
      </p:sp>
      <p:sp>
        <p:nvSpPr>
          <p:cNvPr id="574" name="Google Shape;574;p9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9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The layout editor with ConstraintLayout</a:t>
            </a:r>
            <a:endParaRPr/>
          </a:p>
        </p:txBody>
      </p:sp>
      <p:sp>
        <p:nvSpPr>
          <p:cNvPr id="580" name="Google Shape;580;p9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581" name="Google Shape;581;p9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341500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Connect UI elements to parent layout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Resize and position elements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Align elements to others 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Adjust margins and dimensions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Change attributes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2" name="Google Shape;58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7323" y="1152475"/>
            <a:ext cx="3241500" cy="27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 is ConstraintLayout?</a:t>
            </a:r>
            <a:endParaRPr/>
          </a:p>
        </p:txBody>
      </p:sp>
      <p:sp>
        <p:nvSpPr>
          <p:cNvPr id="588" name="Google Shape;588;p9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589" name="Google Shape;589;p9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Default layout for new Android Studio project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ViewGroup</a:t>
            </a:r>
            <a:r>
              <a:rPr lang="en"/>
              <a:t> that offers flexibility for layout design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Provides constraints to determine positions and alignment of UI elements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Constraint is a connection to another view, parent layout, or invisible guideline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9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Layout editor main toolbar</a:t>
            </a:r>
            <a:endParaRPr/>
          </a:p>
        </p:txBody>
      </p:sp>
      <p:sp>
        <p:nvSpPr>
          <p:cNvPr id="595" name="Google Shape;595;p9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596" name="Google Shape;596;p98"/>
          <p:cNvSpPr txBox="1">
            <a:spLocks noGrp="1"/>
          </p:cNvSpPr>
          <p:nvPr>
            <p:ph type="body" idx="1"/>
          </p:nvPr>
        </p:nvSpPr>
        <p:spPr>
          <a:xfrm>
            <a:off x="311700" y="1816450"/>
            <a:ext cx="8520600" cy="28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Select Design Surface: Design and Blueprint panes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Orientation in Editor: Portrait and Landscape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Device in Editor: Choose device for preview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API Version in Editor: Choose API for preview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Theme in Editor: Choose theme for preview 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Locale in Editor: Choose language/locale for preview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7" name="Google Shape;59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713" y="1089675"/>
            <a:ext cx="6798575" cy="78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9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ConstraintLayout toolbar in layout editor</a:t>
            </a:r>
            <a:endParaRPr/>
          </a:p>
        </p:txBody>
      </p:sp>
      <p:sp>
        <p:nvSpPr>
          <p:cNvPr id="603" name="Google Shape;603;p9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604" name="Google Shape;604;p99"/>
          <p:cNvSpPr txBox="1">
            <a:spLocks noGrp="1"/>
          </p:cNvSpPr>
          <p:nvPr>
            <p:ph type="body" idx="1"/>
          </p:nvPr>
        </p:nvSpPr>
        <p:spPr>
          <a:xfrm>
            <a:off x="311700" y="1986538"/>
            <a:ext cx="8520600" cy="26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Show: Show Constraints and Show Margins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Autoconnect: Enable or disable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Clear All Constraints: Clear all constraints in layout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Infer Constraints: Create constraints by inference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Default Margins: Set default margins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Pack: Pack or expand selected elements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Align: Align selected elements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Guidelines: Add vertical or horizontal guidelines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Zoom controls: Zoom in or out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pic>
        <p:nvPicPr>
          <p:cNvPr id="605" name="Google Shape;60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388" y="1016426"/>
            <a:ext cx="7159225" cy="88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Autoconnect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611" name="Google Shape;611;p10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sp>
        <p:nvSpPr>
          <p:cNvPr id="612" name="Google Shape;612;p10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25300" cy="3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Enable Autoconnect      in toolbar if disabled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Drag element to any part of a layout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Autoconnect generates constraints against parent layout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3" name="Google Shape;613;p100" descr="Screen Shot 2016-05-12 at 8.30.3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4825" y="1440975"/>
            <a:ext cx="333800" cy="23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7064" y="1190975"/>
            <a:ext cx="4637236" cy="318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01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ConstraintLayout handles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0" name="Google Shape;620;p10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621" name="Google Shape;621;p101"/>
          <p:cNvSpPr txBox="1"/>
          <p:nvPr/>
        </p:nvSpPr>
        <p:spPr>
          <a:xfrm>
            <a:off x="97650" y="1020650"/>
            <a:ext cx="4196700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Resizing handle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Constraint line and handle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Constraint handle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Baseline handle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2" name="Google Shape;622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100" y="1072025"/>
            <a:ext cx="3914775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02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Align elements by baseline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8" name="Google Shape;628;p10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629" name="Google Shape;629;p102"/>
          <p:cNvSpPr txBox="1"/>
          <p:nvPr/>
        </p:nvSpPr>
        <p:spPr>
          <a:xfrm>
            <a:off x="97650" y="1020650"/>
            <a:ext cx="4196700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Click the      baseline constraint button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Drag from baseline to other element's baseline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0" name="Google Shape;630;p102" descr="Screen Shot 2017-05-08 at 3.01.4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575" y="1286033"/>
            <a:ext cx="324650" cy="32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4350" y="1513963"/>
            <a:ext cx="4544850" cy="2455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03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Attributes pane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7" name="Google Shape;637;p10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sp>
        <p:nvSpPr>
          <p:cNvPr id="638" name="Google Shape;638;p103"/>
          <p:cNvSpPr txBox="1"/>
          <p:nvPr/>
        </p:nvSpPr>
        <p:spPr>
          <a:xfrm>
            <a:off x="97650" y="1020650"/>
            <a:ext cx="4196700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Click the Attributes tab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Attributes pane includes: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Margin controls for positioning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Attributes such as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layout_width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39" name="Google Shape;639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25" y="1480950"/>
            <a:ext cx="3373850" cy="150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04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Attributes pane view inspector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45" name="Google Shape;645;p10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sp>
        <p:nvSpPr>
          <p:cNvPr id="646" name="Google Shape;646;p104"/>
          <p:cNvSpPr txBox="1"/>
          <p:nvPr/>
        </p:nvSpPr>
        <p:spPr>
          <a:xfrm>
            <a:off x="97650" y="1020650"/>
            <a:ext cx="5379600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Vertical view size control specifies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layout_height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Horizontal view size control specifies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layout_width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Attributes pane close button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7" name="Google Shape;647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350" y="1034730"/>
            <a:ext cx="2958025" cy="35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05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Layout_width and layout_height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53" name="Google Shape;653;p10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sp>
        <p:nvSpPr>
          <p:cNvPr id="654" name="Google Shape;654;p105"/>
          <p:cNvSpPr txBox="1"/>
          <p:nvPr/>
        </p:nvSpPr>
        <p:spPr>
          <a:xfrm>
            <a:off x="97650" y="1020650"/>
            <a:ext cx="8715900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layout_width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layout_height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change with size controls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match_constraint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: Expands element to fill its parent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wrap_content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: Shrinks element to enclose content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        Fixed number of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dp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(density-independent pixels)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5" name="Google Shape;655;p105" descr="Screen Shot 2016-05-12 at 5.13.1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000" y="1832828"/>
            <a:ext cx="471100" cy="2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105" descr="Screen Shot 2016-05-12 at 5.14.04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07" y="2337491"/>
            <a:ext cx="471100" cy="182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105" descr="Screen Shot 2016-05-12 at 5.14.18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000" y="2824650"/>
            <a:ext cx="471100" cy="18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1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3150" y="3347650"/>
            <a:ext cx="90487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0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Set attributes</a:t>
            </a:r>
            <a:endParaRPr/>
          </a:p>
        </p:txBody>
      </p:sp>
      <p:sp>
        <p:nvSpPr>
          <p:cNvPr id="664" name="Google Shape;664;p10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sp>
        <p:nvSpPr>
          <p:cNvPr id="665" name="Google Shape;665;p10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To view and edit all attributes for element: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Click </a:t>
            </a:r>
            <a:r>
              <a:rPr lang="en" b="1"/>
              <a:t>Attributes</a:t>
            </a:r>
            <a:r>
              <a:rPr lang="en"/>
              <a:t> tab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Select element in design, blueprint, or Component Tree 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Change most-used attributes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Click     at top or </a:t>
            </a:r>
            <a:r>
              <a:rPr lang="en" b="1"/>
              <a:t>View more attributes</a:t>
            </a:r>
            <a:r>
              <a:rPr lang="en"/>
              <a:t> at bottom to see and change more attributes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6" name="Google Shape;666;p106" descr="Screen Shot 2016-05-13 at 12.52.37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440" y="3611225"/>
            <a:ext cx="287350" cy="2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0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Set attributes example: TextView</a:t>
            </a:r>
            <a:endParaRPr/>
          </a:p>
        </p:txBody>
      </p:sp>
      <p:sp>
        <p:nvSpPr>
          <p:cNvPr id="672" name="Google Shape;672;p10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pic>
        <p:nvPicPr>
          <p:cNvPr id="673" name="Google Shape;673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9838" y="988602"/>
            <a:ext cx="4444325" cy="36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0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Preview layouts</a:t>
            </a:r>
            <a:endParaRPr/>
          </a:p>
        </p:txBody>
      </p:sp>
      <p:sp>
        <p:nvSpPr>
          <p:cNvPr id="679" name="Google Shape;679;p10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680" name="Google Shape;680;p10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Preview layout with horizontal/vertical orientation: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Click Orientation in Editor button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Choose </a:t>
            </a:r>
            <a:r>
              <a:rPr lang="en" b="1"/>
              <a:t>Switch to Landscape</a:t>
            </a:r>
            <a:r>
              <a:rPr lang="en"/>
              <a:t> or </a:t>
            </a:r>
            <a:r>
              <a:rPr lang="en" b="1"/>
              <a:t>Switch to Portrait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Preview layout with different devices: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Click Device in Editor button 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Choose device 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1" name="Google Shape;681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3000" y="1955900"/>
            <a:ext cx="459225" cy="2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0575" y="3467025"/>
            <a:ext cx="1025745" cy="2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0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Create layout variant for landscape</a:t>
            </a:r>
            <a:endParaRPr/>
          </a:p>
        </p:txBody>
      </p:sp>
      <p:sp>
        <p:nvSpPr>
          <p:cNvPr id="688" name="Google Shape;688;p10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sp>
        <p:nvSpPr>
          <p:cNvPr id="689" name="Google Shape;689;p10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582400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Click Orientation in Editor button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Choose </a:t>
            </a:r>
            <a:r>
              <a:rPr lang="en" b="1"/>
              <a:t>Create Landscape Variation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Layout variant created: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activity_main.xml (land)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Edit the layout variant as needed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690" name="Google Shape;690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5200" y="1409125"/>
            <a:ext cx="459225" cy="2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7225" y="1322250"/>
            <a:ext cx="2867025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1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Create layout variant for tablet</a:t>
            </a:r>
            <a:endParaRPr/>
          </a:p>
        </p:txBody>
      </p:sp>
      <p:sp>
        <p:nvSpPr>
          <p:cNvPr id="697" name="Google Shape;697;p11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sp>
        <p:nvSpPr>
          <p:cNvPr id="698" name="Google Shape;698;p1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Click Orientation in Layout Editor 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Choose </a:t>
            </a:r>
            <a:r>
              <a:rPr lang="en" b="1"/>
              <a:t>Create layout x-large Variation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Layout variant created: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activity_main.xml (xlarge)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Edit the layout variant as needed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699" name="Google Shape;699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7850" y="1451775"/>
            <a:ext cx="459225" cy="2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1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 Handling</a:t>
            </a:r>
            <a:endParaRPr/>
          </a:p>
        </p:txBody>
      </p:sp>
      <p:sp>
        <p:nvSpPr>
          <p:cNvPr id="705" name="Google Shape;705;p11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1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Events</a:t>
            </a:r>
            <a:endParaRPr/>
          </a:p>
        </p:txBody>
      </p:sp>
      <p:sp>
        <p:nvSpPr>
          <p:cNvPr id="711" name="Google Shape;711;p11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sp>
        <p:nvSpPr>
          <p:cNvPr id="712" name="Google Shape;712;p1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Something that happens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UI: Click, tap, drag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Device: </a:t>
            </a:r>
            <a:r>
              <a:rPr lang="en" u="sng">
                <a:solidFill>
                  <a:schemeClr val="hlink"/>
                </a:solidFill>
                <a:hlinkClick r:id="rId3"/>
              </a:rPr>
              <a:t>DetectedActivity</a:t>
            </a:r>
            <a:r>
              <a:rPr lang="en"/>
              <a:t> such as walking, driving, tilting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Events are "noticed" by the Android system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1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Event Handlers</a:t>
            </a:r>
            <a:endParaRPr/>
          </a:p>
        </p:txBody>
      </p:sp>
      <p:sp>
        <p:nvSpPr>
          <p:cNvPr id="718" name="Google Shape;718;p11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  <p:sp>
        <p:nvSpPr>
          <p:cNvPr id="719" name="Google Shape;719;p1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Methods that do something in response to a click 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 method, called an </a:t>
            </a:r>
            <a:r>
              <a:rPr lang="en" b="1"/>
              <a:t>event handler</a:t>
            </a:r>
            <a:r>
              <a:rPr lang="en"/>
              <a:t>, is triggered by a specific event and does something in response to the event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1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Attach in XML and implement in Java</a:t>
            </a:r>
            <a:endParaRPr/>
          </a:p>
        </p:txBody>
      </p:sp>
      <p:sp>
        <p:nvSpPr>
          <p:cNvPr id="725" name="Google Shape;725;p11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  <p:sp>
        <p:nvSpPr>
          <p:cNvPr id="726" name="Google Shape;726;p1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594000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Attach handler to view in XML layout: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android:onClick="showToast"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7" name="Google Shape;727;p114"/>
          <p:cNvSpPr txBox="1">
            <a:spLocks noGrp="1"/>
          </p:cNvSpPr>
          <p:nvPr>
            <p:ph type="body" idx="1"/>
          </p:nvPr>
        </p:nvSpPr>
        <p:spPr>
          <a:xfrm>
            <a:off x="4210400" y="1111425"/>
            <a:ext cx="4690800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Implement handler in Java activity: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void showToast(View view)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String msg = "Hello Toast!";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Toast toast = Toast.makeText(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this, msg, duration);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toast.show();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/>
          </a:p>
        </p:txBody>
      </p:sp>
      <p:cxnSp>
        <p:nvCxnSpPr>
          <p:cNvPr id="728" name="Google Shape;728;p114"/>
          <p:cNvCxnSpPr/>
          <p:nvPr/>
        </p:nvCxnSpPr>
        <p:spPr>
          <a:xfrm flipH="1">
            <a:off x="4055825" y="1099875"/>
            <a:ext cx="10800" cy="32349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1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Alternative: Set click handler in Java</a:t>
            </a:r>
            <a:endParaRPr/>
          </a:p>
        </p:txBody>
      </p:sp>
      <p:sp>
        <p:nvSpPr>
          <p:cNvPr id="734" name="Google Shape;734;p11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  <p:sp>
        <p:nvSpPr>
          <p:cNvPr id="735" name="Google Shape;735;p115"/>
          <p:cNvSpPr txBox="1">
            <a:spLocks noGrp="1"/>
          </p:cNvSpPr>
          <p:nvPr>
            <p:ph type="body" idx="1"/>
          </p:nvPr>
        </p:nvSpPr>
        <p:spPr>
          <a:xfrm>
            <a:off x="311700" y="1086350"/>
            <a:ext cx="8832300" cy="3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final Button button = (Button) findViewById(R.id.button_id);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button.setOnClickListener(new View.OnClickListener() 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public void onClick(View v) 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   String msg = "Hello Toast!";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   Toast toast = Toast.makeText(this, msg, duration);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   toast.show();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2000">
              <a:solidFill>
                <a:srgbClr val="6666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});</a:t>
            </a:r>
            <a:endParaRPr sz="2000">
              <a:solidFill>
                <a:srgbClr val="6666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1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 and measurements</a:t>
            </a:r>
            <a:endParaRPr/>
          </a:p>
        </p:txBody>
      </p:sp>
      <p:sp>
        <p:nvSpPr>
          <p:cNvPr id="741" name="Google Shape;741;p11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1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747" name="Google Shape;747;p11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Separate static data from code in your layouts.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Strings, dimensions, images, menu text, colors, styles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Useful for localization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8" name="Google Shape;748;p11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3" name="Google Shape;753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47250"/>
            <a:ext cx="2903000" cy="363495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11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Where are the resources in your project?</a:t>
            </a:r>
            <a:endParaRPr/>
          </a:p>
        </p:txBody>
      </p:sp>
      <p:sp>
        <p:nvSpPr>
          <p:cNvPr id="755" name="Google Shape;755;p11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50</a:t>
            </a:fld>
            <a:endParaRPr/>
          </a:p>
        </p:txBody>
      </p:sp>
      <p:cxnSp>
        <p:nvCxnSpPr>
          <p:cNvPr id="756" name="Google Shape;756;p118"/>
          <p:cNvCxnSpPr/>
          <p:nvPr/>
        </p:nvCxnSpPr>
        <p:spPr>
          <a:xfrm rot="10800000" flipH="1">
            <a:off x="3325550" y="1878175"/>
            <a:ext cx="1101000" cy="6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757" name="Google Shape;757;p118"/>
          <p:cNvSpPr txBox="1"/>
          <p:nvPr/>
        </p:nvSpPr>
        <p:spPr>
          <a:xfrm>
            <a:off x="4426500" y="1580650"/>
            <a:ext cx="4285800" cy="10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resources and resource files</a:t>
            </a:r>
            <a:endParaRPr sz="24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stored in </a:t>
            </a:r>
            <a:r>
              <a:rPr lang="en" sz="2400" b="1"/>
              <a:t>res</a:t>
            </a:r>
            <a:r>
              <a:rPr lang="en" sz="2400"/>
              <a:t> folder</a:t>
            </a:r>
            <a:endParaRPr sz="2400"/>
          </a:p>
        </p:txBody>
      </p:sp>
      <p:sp>
        <p:nvSpPr>
          <p:cNvPr id="758" name="Google Shape;758;p118"/>
          <p:cNvSpPr/>
          <p:nvPr/>
        </p:nvSpPr>
        <p:spPr>
          <a:xfrm>
            <a:off x="332550" y="1762525"/>
            <a:ext cx="2882100" cy="2582700"/>
          </a:xfrm>
          <a:prstGeom prst="rect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2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Measurements</a:t>
            </a:r>
            <a:endParaRPr/>
          </a:p>
        </p:txBody>
      </p:sp>
      <p:sp>
        <p:nvSpPr>
          <p:cNvPr id="771" name="Google Shape;771;p12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Density-independent Pixels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dp</a:t>
            </a:r>
            <a:r>
              <a:rPr lang="en"/>
              <a:t>): for Views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Scale-independent Pixels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sp</a:t>
            </a:r>
            <a:r>
              <a:rPr lang="en"/>
              <a:t>): for text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Don't use device-dependent or density-dependent units: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Actual Pixels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px</a:t>
            </a:r>
            <a:r>
              <a:rPr lang="en"/>
              <a:t>)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Actual Measurement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/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mm</a:t>
            </a:r>
            <a:r>
              <a:rPr lang="en"/>
              <a:t>)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Points - typography 1/72 inch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pt</a:t>
            </a:r>
            <a:r>
              <a:rPr lang="en"/>
              <a:t>)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772" name="Google Shape;772;p12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51</a:t>
            </a:fld>
            <a:endParaRPr/>
          </a:p>
        </p:txBody>
      </p:sp>
      <p:cxnSp>
        <p:nvCxnSpPr>
          <p:cNvPr id="773" name="Google Shape;773;p120"/>
          <p:cNvCxnSpPr/>
          <p:nvPr/>
        </p:nvCxnSpPr>
        <p:spPr>
          <a:xfrm>
            <a:off x="347850" y="2914200"/>
            <a:ext cx="5508300" cy="1595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4" name="Google Shape;774;p120"/>
          <p:cNvCxnSpPr/>
          <p:nvPr/>
        </p:nvCxnSpPr>
        <p:spPr>
          <a:xfrm rot="10800000" flipH="1">
            <a:off x="454500" y="2956500"/>
            <a:ext cx="5295000" cy="15108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2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808" name="Google Shape;808;p12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12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52</a:t>
            </a:fld>
            <a:endParaRPr/>
          </a:p>
        </p:txBody>
      </p:sp>
      <p:sp>
        <p:nvSpPr>
          <p:cNvPr id="810" name="Google Shape;810;p12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E22A5FA3A2044CB9CD88DCBEA97603" ma:contentTypeVersion="13" ma:contentTypeDescription="Create a new document." ma:contentTypeScope="" ma:versionID="8bed720c1d94978318d9d7cd216c6cdd">
  <xsd:schema xmlns:xsd="http://www.w3.org/2001/XMLSchema" xmlns:xs="http://www.w3.org/2001/XMLSchema" xmlns:p="http://schemas.microsoft.com/office/2006/metadata/properties" xmlns:ns2="9a780629-4d19-4bb9-9056-9a589cd4d271" xmlns:ns3="6de439ce-b7a3-4fe1-9235-7bacf5677901" targetNamespace="http://schemas.microsoft.com/office/2006/metadata/properties" ma:root="true" ma:fieldsID="d1e6fd8c7da481a3d2be388127b355c0" ns2:_="" ns3:_="">
    <xsd:import namespace="9a780629-4d19-4bb9-9056-9a589cd4d271"/>
    <xsd:import namespace="6de439ce-b7a3-4fe1-9235-7bacf5677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80629-4d19-4bb9-9056-9a589cd4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475df7c-731a-48f9-b587-d0ce67fd34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439ce-b7a3-4fe1-9235-7bacf56779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220bbd5-5dd0-4cc5-8ff1-a93b22e2889e}" ma:internalName="TaxCatchAll" ma:showField="CatchAllData" ma:web="6de439ce-b7a3-4fe1-9235-7bacf56779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439ce-b7a3-4fe1-9235-7bacf5677901" xsi:nil="true"/>
    <lcf76f155ced4ddcb4097134ff3c332f xmlns="9a780629-4d19-4bb9-9056-9a589cd4d2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D0A0180-9FA1-40FC-A2DF-90F1327257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780629-4d19-4bb9-9056-9a589cd4d271"/>
    <ds:schemaRef ds:uri="6de439ce-b7a3-4fe1-9235-7bacf56779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F0051F7-2174-42C9-ABB4-3FA942B2B1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7578FD-3C99-4131-95F6-CBB1412F9105}">
  <ds:schemaRefs>
    <ds:schemaRef ds:uri="http://schemas.microsoft.com/office/2006/metadata/properties"/>
    <ds:schemaRef ds:uri="http://schemas.microsoft.com/office/infopath/2007/PartnerControls"/>
    <ds:schemaRef ds:uri="6de439ce-b7a3-4fe1-9235-7bacf5677901"/>
    <ds:schemaRef ds:uri="9a780629-4d19-4bb9-9056-9a589cd4d27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1713</Words>
  <Application>Microsoft Office PowerPoint</Application>
  <PresentationFormat>On-screen Show (16:9)</PresentationFormat>
  <Paragraphs>332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Roboto</vt:lpstr>
      <vt:lpstr>Arial</vt:lpstr>
      <vt:lpstr>Consolas</vt:lpstr>
      <vt:lpstr>GDT master</vt:lpstr>
      <vt:lpstr>GDT master</vt:lpstr>
      <vt:lpstr>GDT master</vt:lpstr>
      <vt:lpstr>LAYOUTS</vt:lpstr>
      <vt:lpstr>Views</vt:lpstr>
      <vt:lpstr>Everything you see is a view</vt:lpstr>
      <vt:lpstr>What is a view?</vt:lpstr>
      <vt:lpstr>Examples of view subclasses</vt:lpstr>
      <vt:lpstr>View attributes</vt:lpstr>
      <vt:lpstr>Create views and layouts</vt:lpstr>
      <vt:lpstr>Android Studio layout editor</vt:lpstr>
      <vt:lpstr>View defined in XML</vt:lpstr>
      <vt:lpstr>View attributes in XML</vt:lpstr>
      <vt:lpstr>Create View in Java code</vt:lpstr>
      <vt:lpstr>What is the context? </vt:lpstr>
      <vt:lpstr>Custom views</vt:lpstr>
      <vt:lpstr>ViewGroup and View hierarchy</vt:lpstr>
      <vt:lpstr>ViewGroup contains "child" views</vt:lpstr>
      <vt:lpstr>ViewGroups for layouts </vt:lpstr>
      <vt:lpstr>Common Layout Classes</vt:lpstr>
      <vt:lpstr>Common Layout Classes</vt:lpstr>
      <vt:lpstr>Class hierarchy vs. layout hierarchy</vt:lpstr>
      <vt:lpstr>Hierarchy of viewgroups and views</vt:lpstr>
      <vt:lpstr>View hierarchy and screen layout</vt:lpstr>
      <vt:lpstr>View hierarchy in the layout editor</vt:lpstr>
      <vt:lpstr>Layout created in XML</vt:lpstr>
      <vt:lpstr>Layout created in Java Activity code</vt:lpstr>
      <vt:lpstr>Set width and height in Java code</vt:lpstr>
      <vt:lpstr>Best practices for view hierarchies</vt:lpstr>
      <vt:lpstr>The layout editor and Constraint Layout</vt:lpstr>
      <vt:lpstr>The layout editor with ConstraintLayout</vt:lpstr>
      <vt:lpstr>What is ConstraintLayout?</vt:lpstr>
      <vt:lpstr>Layout editor main toolbar</vt:lpstr>
      <vt:lpstr>ConstraintLayout toolbar in layout editor</vt:lpstr>
      <vt:lpstr>Autoconnect  </vt:lpstr>
      <vt:lpstr>ConstraintLayout handles</vt:lpstr>
      <vt:lpstr>Align elements by baseline</vt:lpstr>
      <vt:lpstr>Attributes pane</vt:lpstr>
      <vt:lpstr>Attributes pane view inspector</vt:lpstr>
      <vt:lpstr>Layout_width and layout_height</vt:lpstr>
      <vt:lpstr>Set attributes</vt:lpstr>
      <vt:lpstr>Set attributes example: TextView</vt:lpstr>
      <vt:lpstr>Preview layouts</vt:lpstr>
      <vt:lpstr>Create layout variant for landscape</vt:lpstr>
      <vt:lpstr>Create layout variant for tablet</vt:lpstr>
      <vt:lpstr>Event Handling</vt:lpstr>
      <vt:lpstr>Events</vt:lpstr>
      <vt:lpstr>Event Handlers</vt:lpstr>
      <vt:lpstr>Attach in XML and implement in Java</vt:lpstr>
      <vt:lpstr>Alternative: Set click handler in Java</vt:lpstr>
      <vt:lpstr>Resources and measurements</vt:lpstr>
      <vt:lpstr>Resources</vt:lpstr>
      <vt:lpstr>Where are the resources in your project?</vt:lpstr>
      <vt:lpstr>Measurements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LAYOUTS</dc:title>
  <cp:lastModifiedBy>SLY Ponio</cp:lastModifiedBy>
  <cp:revision>3</cp:revision>
  <dcterms:modified xsi:type="dcterms:W3CDTF">2025-04-01T08:25:13Z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0x0101000BE22A5FA3A2044CB9CD88DCBEA97603</vt:lpwstr>
  </property>
</Properties>
</file>