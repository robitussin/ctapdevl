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4"/>
    <p:sldMasterId id="2147483686" r:id="rId5"/>
  </p:sldMasterIdLst>
  <p:notesMasterIdLst>
    <p:notesMasterId r:id="rId29"/>
  </p:notesMasterIdLst>
  <p:sldIdLst>
    <p:sldId id="285" r:id="rId6"/>
    <p:sldId id="258" r:id="rId7"/>
    <p:sldId id="260" r:id="rId8"/>
    <p:sldId id="261" r:id="rId9"/>
    <p:sldId id="328" r:id="rId10"/>
    <p:sldId id="330" r:id="rId11"/>
    <p:sldId id="331" r:id="rId12"/>
    <p:sldId id="329" r:id="rId13"/>
    <p:sldId id="300" r:id="rId14"/>
    <p:sldId id="333" r:id="rId15"/>
    <p:sldId id="332" r:id="rId16"/>
    <p:sldId id="287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4" r:id="rId27"/>
    <p:sldId id="286" r:id="rId2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0"/>
      <p:bold r:id="rId31"/>
      <p:italic r:id="rId32"/>
      <p:bold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  <p:embeddedFont>
      <p:font typeface="Roboto" panose="02000000000000000000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80"/>
    <p:restoredTop sz="94651"/>
  </p:normalViewPr>
  <p:slideViewPr>
    <p:cSldViewPr snapToGrid="0">
      <p:cViewPr>
        <p:scale>
          <a:sx n="200" d="100"/>
          <a:sy n="200" d="100"/>
        </p:scale>
        <p:origin x="156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10.fntdata"/><Relationship Id="rId21" Type="http://schemas.openxmlformats.org/officeDocument/2006/relationships/slide" Target="slides/slide16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7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5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16d7d9d49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16d7d9d49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804c611e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804c611e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8fbd4b1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8fbd4b1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9EC9E45B-74A4-CB99-EEA7-5FC238715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FF10C47E-4D1B-05D2-CF29-87C58F545E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E179D37F-7052-5C26-A569-6E545AB097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1594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9B6975C3-B8FF-709F-013D-A0B14AEFF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28B5B4F5-F7D7-6234-98E9-BFAE7DDAB1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6AC2F0B7-1E6B-50C6-C357-7DD4FD8B0A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7014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29C6C6C4-BB01-C9F5-E4B4-9E3A954D5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55A75F2E-568F-226E-7EE2-28BBBB295F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52647337-2F3A-4029-5A22-C85D65CB0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648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4C7E6665-1166-9828-9B19-FE868ED80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8fbd4b120_0_0:notes">
            <a:extLst>
              <a:ext uri="{FF2B5EF4-FFF2-40B4-BE49-F238E27FC236}">
                <a16:creationId xmlns:a16="http://schemas.microsoft.com/office/drawing/2014/main" id="{E60DB6D8-74DE-E1F8-F390-97D81739A7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8fbd4b120_0_0:notes">
            <a:extLst>
              <a:ext uri="{FF2B5EF4-FFF2-40B4-BE49-F238E27FC236}">
                <a16:creationId xmlns:a16="http://schemas.microsoft.com/office/drawing/2014/main" id="{F90407AE-E378-4275-2374-06AFEEB17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509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3F349D63-5C7F-E648-17AB-06EEB0AF8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C2B9A2D7-2EBD-CACD-0FA4-75AF2F10AA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9663DEFD-81AE-FE2F-26EA-9C6649C9AB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8132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B299BD40-1EE0-F041-B65E-361897F08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1F94A469-9DE7-C190-9E85-CDAF17002F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F5907676-9C14-8C84-3EA3-82BCDBDC9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4159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BDD17D73-AA70-E0EF-7C8E-4F9E88DD8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8148976E-FE0D-4213-DD90-15E24F570C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7AD50C55-C420-0D64-0B68-3FB33502AC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0030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9E1CB91D-D584-2F78-8A3E-4E29F6CD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FE241436-A7AD-57FE-89F8-8E6CD8F34C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BADE186D-BFAF-2213-47BA-9F991B4DE9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3112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FCEB6839-5440-09D4-298D-F39217AC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0429B968-55E5-1717-2A05-7BBA629C54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F894A3D3-78AD-835F-C0DA-EDBFC1B9A1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8505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8F1FFEC9-A567-2A07-85F9-2C4C301B3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9A698129-CFDE-490B-4922-F7F2754658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CEDCEF80-0F40-C094-B9E9-A05B30B009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7724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38F7C2FE-B28E-382B-8152-4556CC532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8fbd4b120_0_0:notes">
            <a:extLst>
              <a:ext uri="{FF2B5EF4-FFF2-40B4-BE49-F238E27FC236}">
                <a16:creationId xmlns:a16="http://schemas.microsoft.com/office/drawing/2014/main" id="{0D6A3D96-A9D1-3A38-0447-BB0DB8A886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8fbd4b120_0_0:notes">
            <a:extLst>
              <a:ext uri="{FF2B5EF4-FFF2-40B4-BE49-F238E27FC236}">
                <a16:creationId xmlns:a16="http://schemas.microsoft.com/office/drawing/2014/main" id="{5000ADB5-9546-6D21-E9A9-C3AD90ADD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6419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D6B60F6B-05C1-1458-18D1-34FDD6FA3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4ABEFB11-5EF2-A1BC-F583-F496CE7819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D3BDC5CF-1864-A1FC-1357-13422A2A14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77671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39C48ECD-B3ED-4AC3-8C00-432E5FF3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6BB653EA-EC3D-429F-FE06-2635920735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3D8EE2E9-1ACE-2F9D-C637-572D0E1A80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02162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D854E919-B149-671D-A8A9-B5BB2BD5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698766B2-AEC7-FBBB-2266-EA5A5045D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54D8F179-890B-A16A-138C-ED63FD47C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69439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EA661E4F-A1E1-88BA-3175-ABD627CE1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98CF120B-AA5B-2CD1-53AD-3D7322BB2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6314F0A8-E0C9-61D0-D0A5-676673E7D4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2249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4143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creativecommons.org/licenses/by-nc/4.0/" TargetMode="Externa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2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2" descr="footer.png"/>
          <p:cNvPicPr preferRelativeResize="0"/>
          <p:nvPr/>
        </p:nvPicPr>
        <p:blipFill rotWithShape="1">
          <a:blip r:embed="rId3">
            <a:alphaModFix/>
          </a:blip>
          <a:srcRect l="28117" t="89810"/>
          <a:stretch/>
        </p:blipFill>
        <p:spPr>
          <a:xfrm>
            <a:off x="0" y="4629149"/>
            <a:ext cx="9144000" cy="5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ldNum" idx="3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0" name="Google Shape;150;p28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1" name="Google Shape;151;p2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2" name="Google Shape;162;p31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2" name="Google Shape;172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3" name="Google Shape;173;p3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6" name="Google Shape;176;p3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1" name="Google Shape;181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3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85" name="Google Shape;185;p3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" name="Google Shape;188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9" name="Google Shape;189;p3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8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8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38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8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7" name="Google Shape;197;p38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38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00" name="Google Shape;20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footer.png"/>
          <p:cNvPicPr preferRelativeResize="0"/>
          <p:nvPr/>
        </p:nvPicPr>
        <p:blipFill rotWithShape="1">
          <a:blip r:embed="rId10">
            <a:alphaModFix/>
          </a:blip>
          <a:srcRect l="26683" t="88828"/>
          <a:stretch/>
        </p:blipFill>
        <p:spPr>
          <a:xfrm>
            <a:off x="0" y="4568874"/>
            <a:ext cx="9144000" cy="5746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7" r:id="rId7"/>
    <p:sldLayoutId id="214748365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2279675" y="4783500"/>
            <a:ext cx="2382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11" name="Google Shape;211;p40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12" name="Google Shape;212;p40"/>
          <p:cNvSpPr txBox="1">
            <a:spLocks noGrp="1"/>
          </p:cNvSpPr>
          <p:nvPr>
            <p:ph type="title"/>
          </p:nvPr>
        </p:nvSpPr>
        <p:spPr>
          <a:xfrm>
            <a:off x="195700" y="1061872"/>
            <a:ext cx="4045200" cy="19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600" dirty="0"/>
              <a:t>Debugging in Android Studio</a:t>
            </a:r>
            <a:endParaRPr sz="3600" dirty="0"/>
          </a:p>
        </p:txBody>
      </p:sp>
      <p:sp>
        <p:nvSpPr>
          <p:cNvPr id="213" name="Google Shape;213;p40"/>
          <p:cNvSpPr txBox="1">
            <a:spLocks noGrp="1"/>
          </p:cNvSpPr>
          <p:nvPr>
            <p:ph type="sldNum" idx="3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14" name="Google Shape;214;p40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CTAPDEVL</a:t>
            </a:r>
            <a:endParaRPr dirty="0"/>
          </a:p>
        </p:txBody>
      </p:sp>
      <p:sp>
        <p:nvSpPr>
          <p:cNvPr id="215" name="Google Shape;215;p40"/>
          <p:cNvSpPr txBox="1"/>
          <p:nvPr/>
        </p:nvSpPr>
        <p:spPr>
          <a:xfrm>
            <a:off x="265500" y="3497901"/>
            <a:ext cx="4045200" cy="10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Prepared by: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Elizer Ponio Jr.</a:t>
            </a:r>
            <a:endParaRPr dirty="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6" name="Google Shape;226;p42"/>
          <p:cNvSpPr txBox="1">
            <a:spLocks noGrp="1"/>
          </p:cNvSpPr>
          <p:nvPr>
            <p:ph type="body" idx="1"/>
          </p:nvPr>
        </p:nvSpPr>
        <p:spPr>
          <a:xfrm>
            <a:off x="311700" y="1000075"/>
            <a:ext cx="8398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PH" dirty="0"/>
              <a:t>The Logcat window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PH" dirty="0"/>
              <a:t>Log levels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PH" dirty="0"/>
              <a:t>Logging and Filtering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27" name="Google Shape;227;p4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>
            <a:spLocks noGrp="1"/>
          </p:cNvSpPr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Logcat</a:t>
            </a:r>
            <a:endParaRPr dirty="0"/>
          </a:p>
        </p:txBody>
      </p:sp>
      <p:sp>
        <p:nvSpPr>
          <p:cNvPr id="240" name="Google Shape;240;p4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Logcat window</a:t>
            </a:r>
            <a:endParaRPr dirty="0"/>
          </a:p>
        </p:txBody>
      </p:sp>
      <p:sp>
        <p:nvSpPr>
          <p:cNvPr id="246" name="Google Shape;246;p4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47" name="Google Shape;247;p45"/>
          <p:cNvSpPr txBox="1"/>
          <p:nvPr/>
        </p:nvSpPr>
        <p:spPr>
          <a:xfrm>
            <a:off x="253168" y="1300160"/>
            <a:ext cx="4889103" cy="31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3000" dirty="0"/>
              <a:t>The </a:t>
            </a:r>
            <a:r>
              <a:rPr lang="en-US" sz="3000" b="1" dirty="0">
                <a:solidFill>
                  <a:srgbClr val="00B050"/>
                </a:solidFill>
              </a:rPr>
              <a:t>Logcat</a:t>
            </a:r>
            <a:r>
              <a:rPr lang="en-US" sz="3000" dirty="0"/>
              <a:t> window in Android Studio helps you debug your app by displaying logs from your device in real time</a:t>
            </a:r>
          </a:p>
        </p:txBody>
      </p:sp>
      <p:pic>
        <p:nvPicPr>
          <p:cNvPr id="3" name="Picture 2" descr="A cat sitting on a log in the snow&#10;&#10;AI-generated content may be incorrect.">
            <a:extLst>
              <a:ext uri="{FF2B5EF4-FFF2-40B4-BE49-F238E27FC236}">
                <a16:creationId xmlns:a16="http://schemas.microsoft.com/office/drawing/2014/main" id="{3629A4E4-C5A9-59E5-3B2B-944CF3725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658" y="1202847"/>
            <a:ext cx="2160000" cy="324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16AC0000-DFA4-1D60-5731-9DF083257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A882AB35-959C-159D-44BD-A2AAEE6A68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Logcat window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EF82BB53-A0EB-4A2C-2ED0-AADCED2C0F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47" name="Google Shape;247;p45">
            <a:extLst>
              <a:ext uri="{FF2B5EF4-FFF2-40B4-BE49-F238E27FC236}">
                <a16:creationId xmlns:a16="http://schemas.microsoft.com/office/drawing/2014/main" id="{0A960122-B973-4C1A-A161-760872F735D3}"/>
              </a:ext>
            </a:extLst>
          </p:cNvPr>
          <p:cNvSpPr txBox="1"/>
          <p:nvPr/>
        </p:nvSpPr>
        <p:spPr>
          <a:xfrm>
            <a:off x="253168" y="1300160"/>
            <a:ext cx="4889103" cy="31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3000" b="1" dirty="0">
                <a:solidFill>
                  <a:srgbClr val="00B050"/>
                </a:solidFill>
              </a:rPr>
              <a:t>Logcat</a:t>
            </a:r>
            <a:r>
              <a:rPr lang="en-US" sz="3000" dirty="0"/>
              <a:t> shows a message followed by the associated stack trace containing links to the line of code.</a:t>
            </a:r>
          </a:p>
        </p:txBody>
      </p:sp>
      <p:pic>
        <p:nvPicPr>
          <p:cNvPr id="3" name="Picture 2" descr="A cat sitting on a log in the snow&#10;&#10;AI-generated content may be incorrect.">
            <a:extLst>
              <a:ext uri="{FF2B5EF4-FFF2-40B4-BE49-F238E27FC236}">
                <a16:creationId xmlns:a16="http://schemas.microsoft.com/office/drawing/2014/main" id="{9C88E85E-15C7-BD63-F2C9-F8D63066F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658" y="1202847"/>
            <a:ext cx="2160000" cy="324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3183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38BA0420-F1F0-26B0-7E1F-86E38AF64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B9753979-7A2E-30AE-5E70-CF8F75FC8F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Logcat window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C389FD1B-C7A0-999B-B0D3-095A4DD4EE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6" name="Graphic 5" descr="Badge 1 with solid fill">
            <a:extLst>
              <a:ext uri="{FF2B5EF4-FFF2-40B4-BE49-F238E27FC236}">
                <a16:creationId xmlns:a16="http://schemas.microsoft.com/office/drawing/2014/main" id="{882A8EC8-3A92-629D-A657-C75DB1DEA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3932" y="4018185"/>
            <a:ext cx="360000" cy="3600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76E4FD-2169-1C30-E87A-16EC7221E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9323" y="1034028"/>
            <a:ext cx="6614677" cy="36000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9392D8-608F-4067-8FE8-2A68DC560C6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43932" y="4198185"/>
            <a:ext cx="37609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400;p63">
            <a:extLst>
              <a:ext uri="{FF2B5EF4-FFF2-40B4-BE49-F238E27FC236}">
                <a16:creationId xmlns:a16="http://schemas.microsoft.com/office/drawing/2014/main" id="{EFB08851-E460-C341-BE6E-E60ADE782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221" y="1034027"/>
            <a:ext cx="2419101" cy="2261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100" dirty="0"/>
              <a:t>Logcat can be accessed by clicking this </a:t>
            </a:r>
            <a:r>
              <a:rPr lang="en" sz="2100" b="1" dirty="0"/>
              <a:t>icon </a:t>
            </a:r>
            <a:r>
              <a:rPr lang="en" sz="2100" dirty="0"/>
              <a:t>in Android Studio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260832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95AB0D74-F20C-BE24-820D-AF342144A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AF111A15-81F8-EC11-5922-85ECB39AA6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Logcat window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1D5A584A-9107-7C3C-BD7C-02BC65602F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6" name="Graphic 5" descr="Badge 1 with solid fill">
            <a:extLst>
              <a:ext uri="{FF2B5EF4-FFF2-40B4-BE49-F238E27FC236}">
                <a16:creationId xmlns:a16="http://schemas.microsoft.com/office/drawing/2014/main" id="{23138D10-D91B-3309-1361-F472241DD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4735" y="3353615"/>
            <a:ext cx="360000" cy="36000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513872-589B-F7A8-460E-861C1F2A5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1070" y="1023039"/>
            <a:ext cx="6612930" cy="3600000"/>
          </a:xfrm>
          <a:prstGeom prst="rect">
            <a:avLst/>
          </a:prstGeom>
        </p:spPr>
      </p:pic>
      <p:sp>
        <p:nvSpPr>
          <p:cNvPr id="11" name="Google Shape;400;p63">
            <a:extLst>
              <a:ext uri="{FF2B5EF4-FFF2-40B4-BE49-F238E27FC236}">
                <a16:creationId xmlns:a16="http://schemas.microsoft.com/office/drawing/2014/main" id="{AE99065F-D48F-0BAE-EF23-C5DB3A5C99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222" y="1034028"/>
            <a:ext cx="2420848" cy="2375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100" dirty="0"/>
              <a:t>You must first select the </a:t>
            </a:r>
            <a:r>
              <a:rPr lang="en" sz="2100" b="1" dirty="0"/>
              <a:t>device</a:t>
            </a:r>
            <a:r>
              <a:rPr lang="en" sz="2100" dirty="0"/>
              <a:t> or </a:t>
            </a:r>
            <a:r>
              <a:rPr lang="en" sz="2100" b="1" dirty="0"/>
              <a:t>emulator</a:t>
            </a:r>
            <a:r>
              <a:rPr lang="en" sz="2100" dirty="0"/>
              <a:t> that Logcat will listen to.</a:t>
            </a:r>
            <a:endParaRPr sz="21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D3CB9D-B653-B38A-5F17-19B2A8258A62}"/>
              </a:ext>
            </a:extLst>
          </p:cNvPr>
          <p:cNvCxnSpPr>
            <a:cxnSpLocks/>
          </p:cNvCxnSpPr>
          <p:nvPr/>
        </p:nvCxnSpPr>
        <p:spPr>
          <a:xfrm>
            <a:off x="2304735" y="3525866"/>
            <a:ext cx="37609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801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5497AEFB-5553-D48E-60B2-D73752ED9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>
            <a:extLst>
              <a:ext uri="{FF2B5EF4-FFF2-40B4-BE49-F238E27FC236}">
                <a16:creationId xmlns:a16="http://schemas.microsoft.com/office/drawing/2014/main" id="{E55001D9-6790-6267-83E1-06B114C2EFF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 levels</a:t>
            </a:r>
            <a:endParaRPr dirty="0"/>
          </a:p>
        </p:txBody>
      </p:sp>
      <p:sp>
        <p:nvSpPr>
          <p:cNvPr id="240" name="Google Shape;240;p44">
            <a:extLst>
              <a:ext uri="{FF2B5EF4-FFF2-40B4-BE49-F238E27FC236}">
                <a16:creationId xmlns:a16="http://schemas.microsoft.com/office/drawing/2014/main" id="{F5BB9A66-C9AE-08C4-9B4F-0C7773AEEC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6334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22E13-7B78-C0C0-E9B4-26346F503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444D-8FD9-798F-007B-E590E1B31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Log Levels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D53BF-E450-E7C9-CE28-76E0656BB3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8" name="Picture 7" descr="A line of icons with text&#10;&#10;AI-generated content may be incorrect.">
            <a:extLst>
              <a:ext uri="{FF2B5EF4-FFF2-40B4-BE49-F238E27FC236}">
                <a16:creationId xmlns:a16="http://schemas.microsoft.com/office/drawing/2014/main" id="{CCA6FC51-F55F-3866-5C3D-1D5491E40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994" y="2131246"/>
            <a:ext cx="4037006" cy="1620000"/>
          </a:xfrm>
          <a:prstGeom prst="rect">
            <a:avLst/>
          </a:prstGeom>
        </p:spPr>
      </p:pic>
      <p:sp>
        <p:nvSpPr>
          <p:cNvPr id="10" name="Google Shape;247;p45">
            <a:extLst>
              <a:ext uri="{FF2B5EF4-FFF2-40B4-BE49-F238E27FC236}">
                <a16:creationId xmlns:a16="http://schemas.microsoft.com/office/drawing/2014/main" id="{C90A24C6-E414-3832-CC8A-C675197941F2}"/>
              </a:ext>
            </a:extLst>
          </p:cNvPr>
          <p:cNvSpPr txBox="1"/>
          <p:nvPr/>
        </p:nvSpPr>
        <p:spPr>
          <a:xfrm>
            <a:off x="362349" y="1393150"/>
            <a:ext cx="4467955" cy="309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800" dirty="0"/>
              <a:t>Log messages are categorized into different log levels to indicate their </a:t>
            </a:r>
            <a:r>
              <a:rPr lang="en-US" sz="2800" b="1" dirty="0">
                <a:solidFill>
                  <a:srgbClr val="FF0000"/>
                </a:solidFill>
              </a:rPr>
              <a:t>severity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00B050"/>
                </a:solidFill>
              </a:rPr>
              <a:t>importance</a:t>
            </a:r>
            <a:r>
              <a:rPr lang="en-US" sz="2800" dirty="0"/>
              <a:t>. </a:t>
            </a:r>
          </a:p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23818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FE641-4467-F250-6CFC-6EF68DECE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B82BD-4D73-2A3D-DFAB-9EC80A43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Log Levels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5742C-5CD6-2AFA-98FC-7468A8D4C7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8" name="Picture 7" descr="A line of icons with text&#10;&#10;AI-generated content may be incorrect.">
            <a:extLst>
              <a:ext uri="{FF2B5EF4-FFF2-40B4-BE49-F238E27FC236}">
                <a16:creationId xmlns:a16="http://schemas.microsoft.com/office/drawing/2014/main" id="{2C10C774-1A31-C4C7-E549-0695C1300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994" y="2131246"/>
            <a:ext cx="4037006" cy="1620000"/>
          </a:xfrm>
          <a:prstGeom prst="rect">
            <a:avLst/>
          </a:prstGeom>
        </p:spPr>
      </p:pic>
      <p:sp>
        <p:nvSpPr>
          <p:cNvPr id="10" name="Google Shape;247;p45">
            <a:extLst>
              <a:ext uri="{FF2B5EF4-FFF2-40B4-BE49-F238E27FC236}">
                <a16:creationId xmlns:a16="http://schemas.microsoft.com/office/drawing/2014/main" id="{5471EE59-E10C-D555-B8B3-C1DDA1E12B2C}"/>
              </a:ext>
            </a:extLst>
          </p:cNvPr>
          <p:cNvSpPr txBox="1"/>
          <p:nvPr/>
        </p:nvSpPr>
        <p:spPr>
          <a:xfrm>
            <a:off x="362349" y="1393150"/>
            <a:ext cx="4467955" cy="309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800" dirty="0"/>
              <a:t>These levels help developers filter logs based on </a:t>
            </a:r>
            <a:r>
              <a:rPr lang="en-US" sz="2800" b="1" dirty="0">
                <a:solidFill>
                  <a:srgbClr val="00B050"/>
                </a:solidFill>
              </a:rPr>
              <a:t>relevance</a:t>
            </a:r>
            <a:r>
              <a:rPr lang="en-US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40993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21D0F-A1C6-8CFD-D6D8-F2D49EC4B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B5C4B-4492-A0A4-4173-E6D0F946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Log Levels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6742D-7EE9-8F6F-BF30-1EC9964E30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10" name="Google Shape;247;p45">
            <a:extLst>
              <a:ext uri="{FF2B5EF4-FFF2-40B4-BE49-F238E27FC236}">
                <a16:creationId xmlns:a16="http://schemas.microsoft.com/office/drawing/2014/main" id="{6D4ED1E4-8299-77E3-5ACA-5A25A1630CD9}"/>
              </a:ext>
            </a:extLst>
          </p:cNvPr>
          <p:cNvSpPr txBox="1"/>
          <p:nvPr/>
        </p:nvSpPr>
        <p:spPr>
          <a:xfrm>
            <a:off x="362349" y="1393150"/>
            <a:ext cx="561850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800" dirty="0"/>
              <a:t>The main log levels in Logcat are:</a:t>
            </a:r>
          </a:p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endParaRPr lang="en-US" sz="2800" dirty="0"/>
          </a:p>
          <a:p>
            <a:pPr marL="76200">
              <a:buSzPts val="2400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356008-9C5A-3D2B-EDE4-F789CC30C9B6}"/>
              </a:ext>
            </a:extLst>
          </p:cNvPr>
          <p:cNvSpPr txBox="1"/>
          <p:nvPr/>
        </p:nvSpPr>
        <p:spPr>
          <a:xfrm>
            <a:off x="397794" y="2238903"/>
            <a:ext cx="480193" cy="40011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V</a:t>
            </a:r>
          </a:p>
        </p:txBody>
      </p:sp>
      <p:sp>
        <p:nvSpPr>
          <p:cNvPr id="13" name="Google Shape;247;p45">
            <a:extLst>
              <a:ext uri="{FF2B5EF4-FFF2-40B4-BE49-F238E27FC236}">
                <a16:creationId xmlns:a16="http://schemas.microsoft.com/office/drawing/2014/main" id="{13DBFC92-9B48-1798-A759-F5CAB54D5988}"/>
              </a:ext>
            </a:extLst>
          </p:cNvPr>
          <p:cNvSpPr txBox="1"/>
          <p:nvPr/>
        </p:nvSpPr>
        <p:spPr>
          <a:xfrm>
            <a:off x="877988" y="2152608"/>
            <a:ext cx="165340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800" dirty="0">
                <a:latin typeface="Consolas" panose="020B0609020204030204" pitchFamily="49" charset="0"/>
              </a:rPr>
              <a:t>VERBOSE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E8139E-996F-A54F-A402-A83A1428E3B3}"/>
              </a:ext>
            </a:extLst>
          </p:cNvPr>
          <p:cNvSpPr txBox="1"/>
          <p:nvPr/>
        </p:nvSpPr>
        <p:spPr>
          <a:xfrm>
            <a:off x="397794" y="2798306"/>
            <a:ext cx="480193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</a:t>
            </a:r>
          </a:p>
        </p:txBody>
      </p:sp>
      <p:sp>
        <p:nvSpPr>
          <p:cNvPr id="16" name="Google Shape;247;p45">
            <a:extLst>
              <a:ext uri="{FF2B5EF4-FFF2-40B4-BE49-F238E27FC236}">
                <a16:creationId xmlns:a16="http://schemas.microsoft.com/office/drawing/2014/main" id="{434CFC21-3651-EAE2-E5B9-74C0DACB4F99}"/>
              </a:ext>
            </a:extLst>
          </p:cNvPr>
          <p:cNvSpPr txBox="1"/>
          <p:nvPr/>
        </p:nvSpPr>
        <p:spPr>
          <a:xfrm>
            <a:off x="877988" y="2712011"/>
            <a:ext cx="124011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800" dirty="0">
                <a:latin typeface="Consolas" panose="020B0609020204030204" pitchFamily="49" charset="0"/>
              </a:rPr>
              <a:t>DEBUG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43FB7E-5D45-68C4-97C8-654E5702B972}"/>
              </a:ext>
            </a:extLst>
          </p:cNvPr>
          <p:cNvSpPr txBox="1"/>
          <p:nvPr/>
        </p:nvSpPr>
        <p:spPr>
          <a:xfrm>
            <a:off x="397794" y="3383844"/>
            <a:ext cx="480193" cy="400110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</a:t>
            </a:r>
          </a:p>
        </p:txBody>
      </p:sp>
      <p:sp>
        <p:nvSpPr>
          <p:cNvPr id="18" name="Google Shape;247;p45">
            <a:extLst>
              <a:ext uri="{FF2B5EF4-FFF2-40B4-BE49-F238E27FC236}">
                <a16:creationId xmlns:a16="http://schemas.microsoft.com/office/drawing/2014/main" id="{7E5E7496-0029-CC0D-2697-00EC5994E266}"/>
              </a:ext>
            </a:extLst>
          </p:cNvPr>
          <p:cNvSpPr txBox="1"/>
          <p:nvPr/>
        </p:nvSpPr>
        <p:spPr>
          <a:xfrm>
            <a:off x="877988" y="3297549"/>
            <a:ext cx="112014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800" dirty="0">
                <a:latin typeface="Consolas" panose="020B0609020204030204" pitchFamily="49" charset="0"/>
              </a:rPr>
              <a:t>INFO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E59968-DB2C-DD07-F341-87F0700DB4E9}"/>
              </a:ext>
            </a:extLst>
          </p:cNvPr>
          <p:cNvSpPr txBox="1"/>
          <p:nvPr/>
        </p:nvSpPr>
        <p:spPr>
          <a:xfrm>
            <a:off x="397794" y="4029542"/>
            <a:ext cx="480193" cy="40011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</a:p>
        </p:txBody>
      </p:sp>
      <p:sp>
        <p:nvSpPr>
          <p:cNvPr id="20" name="Google Shape;247;p45">
            <a:extLst>
              <a:ext uri="{FF2B5EF4-FFF2-40B4-BE49-F238E27FC236}">
                <a16:creationId xmlns:a16="http://schemas.microsoft.com/office/drawing/2014/main" id="{AC24FCA9-BB4C-CC9C-E9BD-7E6717DD4535}"/>
              </a:ext>
            </a:extLst>
          </p:cNvPr>
          <p:cNvSpPr txBox="1"/>
          <p:nvPr/>
        </p:nvSpPr>
        <p:spPr>
          <a:xfrm>
            <a:off x="877989" y="3943247"/>
            <a:ext cx="105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800" dirty="0">
                <a:latin typeface="Consolas" panose="020B0609020204030204" pitchFamily="49" charset="0"/>
              </a:rPr>
              <a:t>WARN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E9214D-402D-2DDC-9B1F-F414B876D8A3}"/>
              </a:ext>
            </a:extLst>
          </p:cNvPr>
          <p:cNvSpPr txBox="1"/>
          <p:nvPr/>
        </p:nvSpPr>
        <p:spPr>
          <a:xfrm>
            <a:off x="5359260" y="2238837"/>
            <a:ext cx="480193" cy="40011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</a:p>
        </p:txBody>
      </p:sp>
      <p:sp>
        <p:nvSpPr>
          <p:cNvPr id="22" name="Google Shape;247;p45">
            <a:extLst>
              <a:ext uri="{FF2B5EF4-FFF2-40B4-BE49-F238E27FC236}">
                <a16:creationId xmlns:a16="http://schemas.microsoft.com/office/drawing/2014/main" id="{627DF6A9-6F91-1A24-ACE3-3DFF4C8760F0}"/>
              </a:ext>
            </a:extLst>
          </p:cNvPr>
          <p:cNvSpPr txBox="1"/>
          <p:nvPr/>
        </p:nvSpPr>
        <p:spPr>
          <a:xfrm>
            <a:off x="5839454" y="2152542"/>
            <a:ext cx="124327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800" dirty="0">
                <a:latin typeface="Consolas" panose="020B0609020204030204" pitchFamily="49" charset="0"/>
              </a:rPr>
              <a:t>ERROR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323F8A-0988-806B-0F35-2A58BDCB3EEE}"/>
              </a:ext>
            </a:extLst>
          </p:cNvPr>
          <p:cNvSpPr txBox="1"/>
          <p:nvPr/>
        </p:nvSpPr>
        <p:spPr>
          <a:xfrm>
            <a:off x="5359260" y="2811537"/>
            <a:ext cx="480193" cy="400110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A</a:t>
            </a:r>
          </a:p>
        </p:txBody>
      </p:sp>
      <p:sp>
        <p:nvSpPr>
          <p:cNvPr id="24" name="Google Shape;247;p45">
            <a:extLst>
              <a:ext uri="{FF2B5EF4-FFF2-40B4-BE49-F238E27FC236}">
                <a16:creationId xmlns:a16="http://schemas.microsoft.com/office/drawing/2014/main" id="{2636D776-77AA-8328-577E-2D30F02A6F6E}"/>
              </a:ext>
            </a:extLst>
          </p:cNvPr>
          <p:cNvSpPr txBox="1"/>
          <p:nvPr/>
        </p:nvSpPr>
        <p:spPr>
          <a:xfrm>
            <a:off x="5839454" y="2725242"/>
            <a:ext cx="143958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800" dirty="0">
                <a:latin typeface="Consolas" panose="020B0609020204030204" pitchFamily="49" charset="0"/>
              </a:rPr>
              <a:t>ASSERT</a:t>
            </a:r>
          </a:p>
        </p:txBody>
      </p:sp>
    </p:spTree>
    <p:extLst>
      <p:ext uri="{BB962C8B-B14F-4D97-AF65-F5344CB8AC3E}">
        <p14:creationId xmlns:p14="http://schemas.microsoft.com/office/powerpoint/2010/main" val="1323673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BF54F62A-E453-9141-BE29-88FDFFBA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2635264A-F6BF-7650-04B1-F3DCFCCCD1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When to use a log level?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0D174DA7-AD08-A2FE-EC2E-BB27F13D9D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47" name="Google Shape;247;p45">
            <a:extLst>
              <a:ext uri="{FF2B5EF4-FFF2-40B4-BE49-F238E27FC236}">
                <a16:creationId xmlns:a16="http://schemas.microsoft.com/office/drawing/2014/main" id="{1AF67411-DF68-FBE1-EE5B-C3E6F4B2452A}"/>
              </a:ext>
            </a:extLst>
          </p:cNvPr>
          <p:cNvSpPr txBox="1"/>
          <p:nvPr/>
        </p:nvSpPr>
        <p:spPr>
          <a:xfrm>
            <a:off x="311700" y="2045680"/>
            <a:ext cx="8254709" cy="204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500" dirty="0"/>
              <a:t>The lowest priority log level. </a:t>
            </a: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endParaRPr lang="en-US" sz="2500" dirty="0"/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500" dirty="0"/>
              <a:t>Used for detailed debugging messages that contain a lot of information but may not be necessary for every log check.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5D051-C3C0-D644-C975-963D2ED16724}"/>
              </a:ext>
            </a:extLst>
          </p:cNvPr>
          <p:cNvSpPr txBox="1"/>
          <p:nvPr/>
        </p:nvSpPr>
        <p:spPr>
          <a:xfrm>
            <a:off x="311700" y="1474279"/>
            <a:ext cx="545873" cy="5232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V</a:t>
            </a:r>
          </a:p>
        </p:txBody>
      </p:sp>
      <p:sp>
        <p:nvSpPr>
          <p:cNvPr id="4" name="Google Shape;247;p45">
            <a:extLst>
              <a:ext uri="{FF2B5EF4-FFF2-40B4-BE49-F238E27FC236}">
                <a16:creationId xmlns:a16="http://schemas.microsoft.com/office/drawing/2014/main" id="{57D84F63-AA57-F654-B8D9-064C0265BFD5}"/>
              </a:ext>
            </a:extLst>
          </p:cNvPr>
          <p:cNvSpPr txBox="1"/>
          <p:nvPr/>
        </p:nvSpPr>
        <p:spPr>
          <a:xfrm>
            <a:off x="957209" y="1448890"/>
            <a:ext cx="165340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800" dirty="0">
                <a:latin typeface="Consolas" panose="020B0609020204030204" pitchFamily="49" charset="0"/>
              </a:rPr>
              <a:t>VERBOSE</a:t>
            </a:r>
          </a:p>
        </p:txBody>
      </p:sp>
    </p:spTree>
    <p:extLst>
      <p:ext uri="{BB962C8B-B14F-4D97-AF65-F5344CB8AC3E}">
        <p14:creationId xmlns:p14="http://schemas.microsoft.com/office/powerpoint/2010/main" val="1474752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BA33EAF2-90EF-467C-6CF6-EB591ADC2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24C0DCF7-CC96-C3D3-BDA9-219E55616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When to use a log level?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4ACC29E2-52F3-C507-07FB-2112126B90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47" name="Google Shape;247;p45">
            <a:extLst>
              <a:ext uri="{FF2B5EF4-FFF2-40B4-BE49-F238E27FC236}">
                <a16:creationId xmlns:a16="http://schemas.microsoft.com/office/drawing/2014/main" id="{54A62AFE-2259-931E-E2AD-DFC6E7A0160E}"/>
              </a:ext>
            </a:extLst>
          </p:cNvPr>
          <p:cNvSpPr txBox="1"/>
          <p:nvPr/>
        </p:nvSpPr>
        <p:spPr>
          <a:xfrm>
            <a:off x="311700" y="2045679"/>
            <a:ext cx="8254709" cy="187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500" dirty="0"/>
              <a:t>Debugging messages intended for development use.</a:t>
            </a:r>
          </a:p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500" dirty="0"/>
              <a:t> </a:t>
            </a: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500" dirty="0"/>
              <a:t>These logs provide useful insights for troubleshooting but should not be enabled in production builds.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737324-F9A6-773A-072F-3EDFD7990264}"/>
              </a:ext>
            </a:extLst>
          </p:cNvPr>
          <p:cNvSpPr txBox="1"/>
          <p:nvPr/>
        </p:nvSpPr>
        <p:spPr>
          <a:xfrm>
            <a:off x="311700" y="1465452"/>
            <a:ext cx="545873" cy="53860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9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</a:t>
            </a:r>
          </a:p>
        </p:txBody>
      </p:sp>
      <p:sp>
        <p:nvSpPr>
          <p:cNvPr id="5" name="Google Shape;247;p45">
            <a:extLst>
              <a:ext uri="{FF2B5EF4-FFF2-40B4-BE49-F238E27FC236}">
                <a16:creationId xmlns:a16="http://schemas.microsoft.com/office/drawing/2014/main" id="{59B29E44-5193-ECEB-4C30-09741D28A1CE}"/>
              </a:ext>
            </a:extLst>
          </p:cNvPr>
          <p:cNvSpPr txBox="1"/>
          <p:nvPr/>
        </p:nvSpPr>
        <p:spPr>
          <a:xfrm>
            <a:off x="791893" y="1465451"/>
            <a:ext cx="1403699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900" dirty="0">
                <a:latin typeface="Consolas" panose="020B0609020204030204" pitchFamily="49" charset="0"/>
              </a:rPr>
              <a:t>DEBUG</a:t>
            </a:r>
          </a:p>
        </p:txBody>
      </p:sp>
    </p:spTree>
    <p:extLst>
      <p:ext uri="{BB962C8B-B14F-4D97-AF65-F5344CB8AC3E}">
        <p14:creationId xmlns:p14="http://schemas.microsoft.com/office/powerpoint/2010/main" val="2487863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10C37792-152A-C54E-AC88-1FF5A2539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3AF35331-1532-00A9-82CE-4E8DBCE0FB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When to use a log level?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D5A720FF-3E77-1363-E3CC-39548A0827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47" name="Google Shape;247;p45">
            <a:extLst>
              <a:ext uri="{FF2B5EF4-FFF2-40B4-BE49-F238E27FC236}">
                <a16:creationId xmlns:a16="http://schemas.microsoft.com/office/drawing/2014/main" id="{05F62464-8EB2-2678-A47C-9DDA61EEB34D}"/>
              </a:ext>
            </a:extLst>
          </p:cNvPr>
          <p:cNvSpPr txBox="1"/>
          <p:nvPr/>
        </p:nvSpPr>
        <p:spPr>
          <a:xfrm>
            <a:off x="311700" y="2045680"/>
            <a:ext cx="8254709" cy="1270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500" dirty="0"/>
              <a:t>General information messages that highlight the progress of the application but are not necessarily problems.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C7D2C-C8E5-439E-F33D-1697CCD1E67D}"/>
              </a:ext>
            </a:extLst>
          </p:cNvPr>
          <p:cNvSpPr txBox="1"/>
          <p:nvPr/>
        </p:nvSpPr>
        <p:spPr>
          <a:xfrm>
            <a:off x="311700" y="1465452"/>
            <a:ext cx="545873" cy="538609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9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</a:t>
            </a:r>
          </a:p>
        </p:txBody>
      </p:sp>
      <p:sp>
        <p:nvSpPr>
          <p:cNvPr id="5" name="Google Shape;247;p45">
            <a:extLst>
              <a:ext uri="{FF2B5EF4-FFF2-40B4-BE49-F238E27FC236}">
                <a16:creationId xmlns:a16="http://schemas.microsoft.com/office/drawing/2014/main" id="{6B8CEE2B-F6DC-3D3E-57D1-44E52719FF06}"/>
              </a:ext>
            </a:extLst>
          </p:cNvPr>
          <p:cNvSpPr txBox="1"/>
          <p:nvPr/>
        </p:nvSpPr>
        <p:spPr>
          <a:xfrm>
            <a:off x="791893" y="1465451"/>
            <a:ext cx="1403699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900" dirty="0">
                <a:latin typeface="Consolas" panose="020B0609020204030204" pitchFamily="49" charset="0"/>
              </a:rPr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2688198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4E017C54-48DC-BBCB-70BA-5A34E221D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F84F81BE-E47C-8499-B1F5-FE60BAFC2B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When to use a log level?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780152D6-970A-3F6B-786C-5DFBFCC746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47" name="Google Shape;247;p45">
            <a:extLst>
              <a:ext uri="{FF2B5EF4-FFF2-40B4-BE49-F238E27FC236}">
                <a16:creationId xmlns:a16="http://schemas.microsoft.com/office/drawing/2014/main" id="{E1390E93-B987-4604-8575-CBD0DD9974A7}"/>
              </a:ext>
            </a:extLst>
          </p:cNvPr>
          <p:cNvSpPr txBox="1"/>
          <p:nvPr/>
        </p:nvSpPr>
        <p:spPr>
          <a:xfrm>
            <a:off x="311700" y="2045679"/>
            <a:ext cx="8254709" cy="919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500" dirty="0"/>
              <a:t>Indicates potential problems or issues that may not cause immediate failures but should be looked into.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37671F-2BFE-A1DF-9654-FF488B92F98B}"/>
              </a:ext>
            </a:extLst>
          </p:cNvPr>
          <p:cNvSpPr txBox="1"/>
          <p:nvPr/>
        </p:nvSpPr>
        <p:spPr>
          <a:xfrm>
            <a:off x="311700" y="1465452"/>
            <a:ext cx="545873" cy="538609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9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</a:p>
        </p:txBody>
      </p:sp>
      <p:sp>
        <p:nvSpPr>
          <p:cNvPr id="5" name="Google Shape;247;p45">
            <a:extLst>
              <a:ext uri="{FF2B5EF4-FFF2-40B4-BE49-F238E27FC236}">
                <a16:creationId xmlns:a16="http://schemas.microsoft.com/office/drawing/2014/main" id="{487B6DA8-99E2-0656-1107-9682CDE014D3}"/>
              </a:ext>
            </a:extLst>
          </p:cNvPr>
          <p:cNvSpPr txBox="1"/>
          <p:nvPr/>
        </p:nvSpPr>
        <p:spPr>
          <a:xfrm>
            <a:off x="791893" y="1465451"/>
            <a:ext cx="1403699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900" dirty="0">
                <a:latin typeface="Consolas" panose="020B0609020204030204" pitchFamily="49" charset="0"/>
              </a:rPr>
              <a:t>WARN</a:t>
            </a:r>
          </a:p>
        </p:txBody>
      </p:sp>
    </p:spTree>
    <p:extLst>
      <p:ext uri="{BB962C8B-B14F-4D97-AF65-F5344CB8AC3E}">
        <p14:creationId xmlns:p14="http://schemas.microsoft.com/office/powerpoint/2010/main" val="2007990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47C4E674-2557-E83E-DB68-427863E64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06A54BF3-77A7-EC30-8AF0-362929736E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When to use a log level?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60BFAEC7-5DB1-6010-5CD6-8C206694B0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47" name="Google Shape;247;p45">
            <a:extLst>
              <a:ext uri="{FF2B5EF4-FFF2-40B4-BE49-F238E27FC236}">
                <a16:creationId xmlns:a16="http://schemas.microsoft.com/office/drawing/2014/main" id="{08F9EC47-E3ED-DD04-9917-A9415470DDE9}"/>
              </a:ext>
            </a:extLst>
          </p:cNvPr>
          <p:cNvSpPr txBox="1"/>
          <p:nvPr/>
        </p:nvSpPr>
        <p:spPr>
          <a:xfrm>
            <a:off x="311700" y="2045679"/>
            <a:ext cx="8254709" cy="128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500" dirty="0"/>
              <a:t>Used for serious issues that indicate an error in the application, which might cause malfunctioning or unexpected behavior.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51A90D-59FC-4C3F-592E-62A663A07706}"/>
              </a:ext>
            </a:extLst>
          </p:cNvPr>
          <p:cNvSpPr txBox="1"/>
          <p:nvPr/>
        </p:nvSpPr>
        <p:spPr>
          <a:xfrm>
            <a:off x="311700" y="1465452"/>
            <a:ext cx="545873" cy="538609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9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</a:p>
        </p:txBody>
      </p:sp>
      <p:sp>
        <p:nvSpPr>
          <p:cNvPr id="5" name="Google Shape;247;p45">
            <a:extLst>
              <a:ext uri="{FF2B5EF4-FFF2-40B4-BE49-F238E27FC236}">
                <a16:creationId xmlns:a16="http://schemas.microsoft.com/office/drawing/2014/main" id="{1B783421-9AA9-823F-7EC0-5F564E24B3EA}"/>
              </a:ext>
            </a:extLst>
          </p:cNvPr>
          <p:cNvSpPr txBox="1"/>
          <p:nvPr/>
        </p:nvSpPr>
        <p:spPr>
          <a:xfrm>
            <a:off x="791893" y="1465451"/>
            <a:ext cx="1403699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900" dirty="0">
                <a:latin typeface="Consolas" panose="020B0609020204030204" pitchFamily="49" charset="0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2414158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3CF7617E-C29B-6C55-50FE-ED38EDF45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7CD80326-BFA4-0D34-AE50-500B088DE7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When to use a log level?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B3F664B2-8441-4BDA-AFB3-9CCB295D38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47" name="Google Shape;247;p45">
            <a:extLst>
              <a:ext uri="{FF2B5EF4-FFF2-40B4-BE49-F238E27FC236}">
                <a16:creationId xmlns:a16="http://schemas.microsoft.com/office/drawing/2014/main" id="{51B708CF-8B63-6C02-F7D5-05D93EF31867}"/>
              </a:ext>
            </a:extLst>
          </p:cNvPr>
          <p:cNvSpPr txBox="1"/>
          <p:nvPr/>
        </p:nvSpPr>
        <p:spPr>
          <a:xfrm>
            <a:off x="311700" y="2045678"/>
            <a:ext cx="8254709" cy="2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500" dirty="0"/>
              <a:t>The highest priority level, </a:t>
            </a: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endParaRPr lang="en-US" sz="2500" dirty="0"/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500" dirty="0"/>
              <a:t>Used for critical failures that should never happen.</a:t>
            </a: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endParaRPr lang="en-US" sz="2500" dirty="0"/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500" dirty="0"/>
              <a:t>This level is rarely used and is often associated with </a:t>
            </a:r>
            <a:r>
              <a:rPr lang="en-US" sz="2500" dirty="0" err="1">
                <a:latin typeface="Consolas" panose="020B0609020204030204" pitchFamily="49" charset="0"/>
              </a:rPr>
              <a:t>Log.wtf</a:t>
            </a:r>
            <a:r>
              <a:rPr lang="en-US" sz="2500" dirty="0">
                <a:latin typeface="Consolas" panose="020B0609020204030204" pitchFamily="49" charset="0"/>
              </a:rPr>
              <a:t>()</a:t>
            </a:r>
            <a:r>
              <a:rPr lang="en-US" sz="2500" dirty="0"/>
              <a:t>(What a Terrible Failure).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ABA47-D849-E384-9FCA-C952AD0C009D}"/>
              </a:ext>
            </a:extLst>
          </p:cNvPr>
          <p:cNvSpPr txBox="1"/>
          <p:nvPr/>
        </p:nvSpPr>
        <p:spPr>
          <a:xfrm>
            <a:off x="311700" y="1465452"/>
            <a:ext cx="545873" cy="538609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9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A</a:t>
            </a:r>
          </a:p>
        </p:txBody>
      </p:sp>
      <p:sp>
        <p:nvSpPr>
          <p:cNvPr id="5" name="Google Shape;247;p45">
            <a:extLst>
              <a:ext uri="{FF2B5EF4-FFF2-40B4-BE49-F238E27FC236}">
                <a16:creationId xmlns:a16="http://schemas.microsoft.com/office/drawing/2014/main" id="{B9F9A1D7-9945-5D1F-AC90-AF6F6EDB05B1}"/>
              </a:ext>
            </a:extLst>
          </p:cNvPr>
          <p:cNvSpPr txBox="1"/>
          <p:nvPr/>
        </p:nvSpPr>
        <p:spPr>
          <a:xfrm>
            <a:off x="791893" y="1465451"/>
            <a:ext cx="149669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900" dirty="0">
                <a:latin typeface="Consolas" panose="020B0609020204030204" pitchFamily="49" charset="0"/>
              </a:rPr>
              <a:t>ASSERT</a:t>
            </a:r>
          </a:p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endParaRPr lang="en-US" sz="29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602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EE2E6682-FDFD-1096-A22B-B6BD9B0E2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>
            <a:extLst>
              <a:ext uri="{FF2B5EF4-FFF2-40B4-BE49-F238E27FC236}">
                <a16:creationId xmlns:a16="http://schemas.microsoft.com/office/drawing/2014/main" id="{830F5DD9-5095-12B6-8627-3C42956C208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Logging and Filtering</a:t>
            </a:r>
            <a:endParaRPr dirty="0"/>
          </a:p>
        </p:txBody>
      </p:sp>
      <p:sp>
        <p:nvSpPr>
          <p:cNvPr id="240" name="Google Shape;240;p44">
            <a:extLst>
              <a:ext uri="{FF2B5EF4-FFF2-40B4-BE49-F238E27FC236}">
                <a16:creationId xmlns:a16="http://schemas.microsoft.com/office/drawing/2014/main" id="{D0D205EE-04F0-779D-D467-4CF4380E53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349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297F723E-6010-01F5-B938-78F10399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E2FD898C-CC47-1609-72BD-EC23047AF9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The Log Class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147B706B-5D32-F291-53C3-17DC0EE0DD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8" name="Google Shape;400;p63">
            <a:extLst>
              <a:ext uri="{FF2B5EF4-FFF2-40B4-BE49-F238E27FC236}">
                <a16:creationId xmlns:a16="http://schemas.microsoft.com/office/drawing/2014/main" id="{73C76D80-9F24-E180-67A7-C8AC9DBF0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221" y="1034027"/>
            <a:ext cx="2419101" cy="2520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 dirty="0"/>
              <a:t>The Log class is used to create logs.</a:t>
            </a:r>
          </a:p>
          <a:p>
            <a:pPr marL="76200" lvl="0" indent="0" algn="l" rtl="0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 dirty="0"/>
              <a:t> </a:t>
            </a:r>
            <a:br>
              <a:rPr lang="en" sz="1800" dirty="0"/>
            </a:br>
            <a:r>
              <a:rPr lang="en" sz="1800" dirty="0"/>
              <a:t>In this example </a:t>
            </a:r>
            <a:r>
              <a:rPr lang="en" sz="1800" dirty="0">
                <a:latin typeface="Consolas" panose="020B0609020204030204" pitchFamily="49" charset="0"/>
              </a:rPr>
              <a:t>Log.d()</a:t>
            </a:r>
            <a:r>
              <a:rPr lang="en" sz="1800" dirty="0"/>
              <a:t>is used to indicate that the log level is</a:t>
            </a:r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D38B839-1CBD-4913-8E16-5292B2F6A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374" y="1034027"/>
            <a:ext cx="6627626" cy="3600000"/>
          </a:xfrm>
          <a:prstGeom prst="rect">
            <a:avLst/>
          </a:prstGeom>
        </p:spPr>
      </p:pic>
      <p:sp>
        <p:nvSpPr>
          <p:cNvPr id="13" name="Google Shape;287;p50">
            <a:extLst>
              <a:ext uri="{FF2B5EF4-FFF2-40B4-BE49-F238E27FC236}">
                <a16:creationId xmlns:a16="http://schemas.microsoft.com/office/drawing/2014/main" id="{BAF40811-799E-5CFF-5790-E8622A293928}"/>
              </a:ext>
            </a:extLst>
          </p:cNvPr>
          <p:cNvSpPr/>
          <p:nvPr/>
        </p:nvSpPr>
        <p:spPr>
          <a:xfrm>
            <a:off x="4111625" y="2841007"/>
            <a:ext cx="2124074" cy="92143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9C46AB-2D29-6149-85DD-256A003FD578}"/>
              </a:ext>
            </a:extLst>
          </p:cNvPr>
          <p:cNvSpPr txBox="1"/>
          <p:nvPr/>
        </p:nvSpPr>
        <p:spPr>
          <a:xfrm>
            <a:off x="1097076" y="3267276"/>
            <a:ext cx="445390" cy="32316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</a:t>
            </a:r>
          </a:p>
        </p:txBody>
      </p:sp>
      <p:sp>
        <p:nvSpPr>
          <p:cNvPr id="15" name="Google Shape;247;p45">
            <a:extLst>
              <a:ext uri="{FF2B5EF4-FFF2-40B4-BE49-F238E27FC236}">
                <a16:creationId xmlns:a16="http://schemas.microsoft.com/office/drawing/2014/main" id="{29531DD0-8F17-0DB8-0678-FF66CF5C5F82}"/>
              </a:ext>
            </a:extLst>
          </p:cNvPr>
          <p:cNvSpPr txBox="1"/>
          <p:nvPr/>
        </p:nvSpPr>
        <p:spPr>
          <a:xfrm>
            <a:off x="1457946" y="3184946"/>
            <a:ext cx="9308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1800" dirty="0">
                <a:latin typeface="Consolas" panose="020B0609020204030204" pitchFamily="49" charset="0"/>
              </a:rPr>
              <a:t>DEBUG</a:t>
            </a:r>
          </a:p>
        </p:txBody>
      </p:sp>
    </p:spTree>
    <p:extLst>
      <p:ext uri="{BB962C8B-B14F-4D97-AF65-F5344CB8AC3E}">
        <p14:creationId xmlns:p14="http://schemas.microsoft.com/office/powerpoint/2010/main" val="280640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6FE57935-23CA-5BC9-823C-FC9CC32E4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E01E985A-3EEB-4DDF-236C-21202361DA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The Log Class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4093B536-E88F-A1E6-3B06-AFFC6BEB0A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8" name="Google Shape;400;p63">
            <a:extLst>
              <a:ext uri="{FF2B5EF4-FFF2-40B4-BE49-F238E27FC236}">
                <a16:creationId xmlns:a16="http://schemas.microsoft.com/office/drawing/2014/main" id="{462A6CFF-A381-7226-E7BF-F2FA8BFA9C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221" y="1034028"/>
            <a:ext cx="2419101" cy="1806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 dirty="0"/>
              <a:t>The Log class accepts two parameters, the </a:t>
            </a:r>
            <a:r>
              <a:rPr lang="en" sz="1800" b="1" dirty="0"/>
              <a:t>tag</a:t>
            </a:r>
            <a:r>
              <a:rPr lang="en" sz="1800" dirty="0"/>
              <a:t> and the</a:t>
            </a:r>
            <a:r>
              <a:rPr lang="en" sz="1800" b="1" dirty="0"/>
              <a:t> log message</a:t>
            </a:r>
            <a:r>
              <a:rPr lang="en" sz="1800" dirty="0"/>
              <a:t>.</a:t>
            </a:r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2DBFEA1-A0CA-DBE9-598D-5023EAF7B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374" y="1034027"/>
            <a:ext cx="6627626" cy="3600000"/>
          </a:xfrm>
          <a:prstGeom prst="rect">
            <a:avLst/>
          </a:prstGeom>
        </p:spPr>
      </p:pic>
      <p:sp>
        <p:nvSpPr>
          <p:cNvPr id="13" name="Google Shape;287;p50">
            <a:extLst>
              <a:ext uri="{FF2B5EF4-FFF2-40B4-BE49-F238E27FC236}">
                <a16:creationId xmlns:a16="http://schemas.microsoft.com/office/drawing/2014/main" id="{49394463-FAEC-AB8D-B0B3-E5265533C460}"/>
              </a:ext>
            </a:extLst>
          </p:cNvPr>
          <p:cNvSpPr/>
          <p:nvPr/>
        </p:nvSpPr>
        <p:spPr>
          <a:xfrm>
            <a:off x="4111625" y="2841007"/>
            <a:ext cx="2124074" cy="92143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406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E096BF89-D5F0-0651-2D68-30A7A14F1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6E65ACB3-0163-F303-E37D-058C9BC71B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Filtering log messages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507F7290-1F9B-7D44-777F-19356B74BF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8" name="Google Shape;400;p63">
            <a:extLst>
              <a:ext uri="{FF2B5EF4-FFF2-40B4-BE49-F238E27FC236}">
                <a16:creationId xmlns:a16="http://schemas.microsoft.com/office/drawing/2014/main" id="{ADE00390-BFD7-26FE-3839-CDD1AED85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221" y="1034028"/>
            <a:ext cx="2419101" cy="1806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 dirty="0"/>
              <a:t>The </a:t>
            </a:r>
            <a:r>
              <a:rPr lang="en" sz="1800" b="1" dirty="0"/>
              <a:t>tag</a:t>
            </a:r>
            <a:r>
              <a:rPr lang="en" sz="1800" dirty="0"/>
              <a:t> parameter can make finding log messages faster when </a:t>
            </a:r>
            <a:r>
              <a:rPr lang="en" sz="1800" b="1" dirty="0"/>
              <a:t>filtering in logcat</a:t>
            </a:r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1F60549-8F8B-F11D-7E28-6A9407CB1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374" y="1034027"/>
            <a:ext cx="6627626" cy="3600000"/>
          </a:xfrm>
          <a:prstGeom prst="rect">
            <a:avLst/>
          </a:prstGeom>
        </p:spPr>
      </p:pic>
      <p:sp>
        <p:nvSpPr>
          <p:cNvPr id="13" name="Google Shape;287;p50">
            <a:extLst>
              <a:ext uri="{FF2B5EF4-FFF2-40B4-BE49-F238E27FC236}">
                <a16:creationId xmlns:a16="http://schemas.microsoft.com/office/drawing/2014/main" id="{ADDB7206-4188-5806-E9A9-1765BD5A2931}"/>
              </a:ext>
            </a:extLst>
          </p:cNvPr>
          <p:cNvSpPr/>
          <p:nvPr/>
        </p:nvSpPr>
        <p:spPr>
          <a:xfrm>
            <a:off x="4111625" y="2841007"/>
            <a:ext cx="2124074" cy="92143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128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A8717F2A-2B82-3F95-DC16-1E1CBA057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FD114509-4029-4BDC-557B-EABC9AF96D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Filtering log messages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04CF0B27-CF1D-2D75-87C8-D705255127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8" name="Google Shape;400;p63">
            <a:extLst>
              <a:ext uri="{FF2B5EF4-FFF2-40B4-BE49-F238E27FC236}">
                <a16:creationId xmlns:a16="http://schemas.microsoft.com/office/drawing/2014/main" id="{578D965B-2524-E75F-7D89-5ACDEDD083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221" y="1034028"/>
            <a:ext cx="2419101" cy="21155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 dirty="0"/>
              <a:t>Logcat has a </a:t>
            </a:r>
            <a:r>
              <a:rPr lang="en" sz="1800" b="1" dirty="0"/>
              <a:t>filter section</a:t>
            </a:r>
            <a:r>
              <a:rPr lang="en" sz="1800" dirty="0"/>
              <a:t> where you can directly search </a:t>
            </a:r>
            <a:r>
              <a:rPr lang="en" sz="1800" b="1" dirty="0"/>
              <a:t>using the tag name </a:t>
            </a:r>
            <a:r>
              <a:rPr lang="en" sz="1800" dirty="0"/>
              <a:t>or the </a:t>
            </a:r>
            <a:r>
              <a:rPr lang="en" sz="1800" b="1" dirty="0"/>
              <a:t>log level</a:t>
            </a:r>
            <a:r>
              <a:rPr lang="en" sz="1800" dirty="0"/>
              <a:t> of a cert</a:t>
            </a:r>
            <a:r>
              <a:rPr lang="en-PH" sz="1800" dirty="0"/>
              <a:t>ai</a:t>
            </a:r>
            <a:r>
              <a:rPr lang="en" sz="1800" dirty="0"/>
              <a:t>n log message</a:t>
            </a:r>
            <a:endParaRPr lang="en" sz="1800" b="1" dirty="0"/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3DE7ABD-CD83-C4CC-C273-1BCC9B3C6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374" y="1034027"/>
            <a:ext cx="6627626" cy="3600000"/>
          </a:xfrm>
          <a:prstGeom prst="rect">
            <a:avLst/>
          </a:prstGeom>
        </p:spPr>
      </p:pic>
      <p:sp>
        <p:nvSpPr>
          <p:cNvPr id="2" name="Google Shape;287;p50">
            <a:extLst>
              <a:ext uri="{FF2B5EF4-FFF2-40B4-BE49-F238E27FC236}">
                <a16:creationId xmlns:a16="http://schemas.microsoft.com/office/drawing/2014/main" id="{526797D1-DA75-EB74-E608-81733AF9D087}"/>
              </a:ext>
            </a:extLst>
          </p:cNvPr>
          <p:cNvSpPr/>
          <p:nvPr/>
        </p:nvSpPr>
        <p:spPr>
          <a:xfrm>
            <a:off x="4111625" y="2841007"/>
            <a:ext cx="2124074" cy="92143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87;p50">
            <a:extLst>
              <a:ext uri="{FF2B5EF4-FFF2-40B4-BE49-F238E27FC236}">
                <a16:creationId xmlns:a16="http://schemas.microsoft.com/office/drawing/2014/main" id="{31342861-B1E7-BDFE-BAD8-C885E1A880FB}"/>
              </a:ext>
            </a:extLst>
          </p:cNvPr>
          <p:cNvSpPr/>
          <p:nvPr/>
        </p:nvSpPr>
        <p:spPr>
          <a:xfrm>
            <a:off x="3687762" y="3488707"/>
            <a:ext cx="293688" cy="92143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619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>
            <a:spLocks noGrp="1"/>
          </p:cNvSpPr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END</a:t>
            </a:r>
            <a:endParaRPr dirty="0"/>
          </a:p>
        </p:txBody>
      </p:sp>
      <p:sp>
        <p:nvSpPr>
          <p:cNvPr id="220" name="Google Shape;220;p4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4398485"/>
      </p:ext>
    </p:extLst>
  </p:cSld>
  <p:clrMapOvr>
    <a:masterClrMapping/>
  </p:clrMapOvr>
</p:sld>
</file>

<file path=ppt/theme/theme1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3" ma:contentTypeDescription="Create a new document." ma:contentTypeScope="" ma:versionID="8bed720c1d94978318d9d7cd216c6cdd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d1e6fd8c7da481a3d2be388127b355c0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E7F6840-6857-43E1-9DE4-2E7F6BB5FC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A5714C-0834-4C0E-B236-4249A47FB8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780629-4d19-4bb9-9056-9a589cd4d271"/>
    <ds:schemaRef ds:uri="6de439ce-b7a3-4fe1-9235-7bacf56779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E4F98A-D26E-46BF-BF72-CF571D1397AE}">
  <ds:schemaRefs>
    <ds:schemaRef ds:uri="http://schemas.microsoft.com/office/2006/metadata/properties"/>
    <ds:schemaRef ds:uri="http://schemas.microsoft.com/office/infopath/2007/PartnerControls"/>
    <ds:schemaRef ds:uri="6de439ce-b7a3-4fe1-9235-7bacf5677901"/>
    <ds:schemaRef ds:uri="9a780629-4d19-4bb9-9056-9a589cd4d27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459</Words>
  <Application>Microsoft Office PowerPoint</Application>
  <PresentationFormat>On-screen Show (16:9)</PresentationFormat>
  <Paragraphs>107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Roboto</vt:lpstr>
      <vt:lpstr>Consolas</vt:lpstr>
      <vt:lpstr>Open Sans</vt:lpstr>
      <vt:lpstr>GDT master</vt:lpstr>
      <vt:lpstr>GDT master</vt:lpstr>
      <vt:lpstr>Debugging in Android Studio</vt:lpstr>
      <vt:lpstr>Contents</vt:lpstr>
      <vt:lpstr>Logcat</vt:lpstr>
      <vt:lpstr>Logcat window</vt:lpstr>
      <vt:lpstr>Logcat window</vt:lpstr>
      <vt:lpstr>Logcat window</vt:lpstr>
      <vt:lpstr>Logcat window</vt:lpstr>
      <vt:lpstr>Log levels</vt:lpstr>
      <vt:lpstr>Log Levels</vt:lpstr>
      <vt:lpstr>Log Levels</vt:lpstr>
      <vt:lpstr>Log Levels</vt:lpstr>
      <vt:lpstr>When to use a log level?</vt:lpstr>
      <vt:lpstr>When to use a log level?</vt:lpstr>
      <vt:lpstr>When to use a log level?</vt:lpstr>
      <vt:lpstr>When to use a log level?</vt:lpstr>
      <vt:lpstr>When to use a log level?</vt:lpstr>
      <vt:lpstr>When to use a log level?</vt:lpstr>
      <vt:lpstr>Logging and Filtering</vt:lpstr>
      <vt:lpstr>The Log Class</vt:lpstr>
      <vt:lpstr>The Log Class</vt:lpstr>
      <vt:lpstr>Filtering log messages</vt:lpstr>
      <vt:lpstr>Filtering log messages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STUDIO FUNDAMENTALS</dc:title>
  <cp:lastModifiedBy>SLY Ponio</cp:lastModifiedBy>
  <cp:revision>24</cp:revision>
  <dcterms:modified xsi:type="dcterms:W3CDTF">2025-04-01T10:53:10Z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</Properties>
</file>