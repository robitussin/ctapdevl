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6" r:id="rId4"/>
    <p:sldMasterId id="2147483698" r:id="rId5"/>
  </p:sldMasterIdLst>
  <p:notesMasterIdLst>
    <p:notesMasterId r:id="rId49"/>
  </p:notesMasterIdLst>
  <p:sldIdLst>
    <p:sldId id="256" r:id="rId6"/>
    <p:sldId id="258" r:id="rId7"/>
    <p:sldId id="257" r:id="rId8"/>
    <p:sldId id="260" r:id="rId9"/>
    <p:sldId id="307" r:id="rId10"/>
    <p:sldId id="339" r:id="rId11"/>
    <p:sldId id="304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40" r:id="rId21"/>
    <p:sldId id="316" r:id="rId22"/>
    <p:sldId id="317" r:id="rId23"/>
    <p:sldId id="318" r:id="rId24"/>
    <p:sldId id="319" r:id="rId25"/>
    <p:sldId id="320" r:id="rId26"/>
    <p:sldId id="321" r:id="rId27"/>
    <p:sldId id="322" r:id="rId28"/>
    <p:sldId id="323" r:id="rId29"/>
    <p:sldId id="324" r:id="rId30"/>
    <p:sldId id="325" r:id="rId31"/>
    <p:sldId id="326" r:id="rId32"/>
    <p:sldId id="327" r:id="rId33"/>
    <p:sldId id="341" r:id="rId34"/>
    <p:sldId id="328" r:id="rId35"/>
    <p:sldId id="330" r:id="rId36"/>
    <p:sldId id="329" r:id="rId37"/>
    <p:sldId id="331" r:id="rId38"/>
    <p:sldId id="332" r:id="rId39"/>
    <p:sldId id="342" r:id="rId40"/>
    <p:sldId id="333" r:id="rId41"/>
    <p:sldId id="334" r:id="rId42"/>
    <p:sldId id="335" r:id="rId43"/>
    <p:sldId id="336" r:id="rId44"/>
    <p:sldId id="337" r:id="rId45"/>
    <p:sldId id="338" r:id="rId46"/>
    <p:sldId id="343" r:id="rId47"/>
    <p:sldId id="302" r:id="rId4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50"/>
      <p:bold r:id="rId51"/>
      <p:italic r:id="rId52"/>
      <p:boldItalic r:id="rId53"/>
    </p:embeddedFont>
    <p:embeddedFont>
      <p:font typeface="Roboto" panose="02000000000000000000" pitchFamily="2" charset="0"/>
      <p:regular r:id="rId54"/>
      <p:bold r:id="rId55"/>
      <p:italic r:id="rId56"/>
      <p:boldItalic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71EE33-573B-423D-8153-F3878124C588}" v="6" dt="2024-01-17T14:34:48.4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43"/>
    <p:restoredTop sz="94609"/>
  </p:normalViewPr>
  <p:slideViewPr>
    <p:cSldViewPr snapToGrid="0">
      <p:cViewPr>
        <p:scale>
          <a:sx n="139" d="100"/>
          <a:sy n="139" d="100"/>
        </p:scale>
        <p:origin x="152" y="1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3096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3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font" Target="fonts/font4.fntdata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tableStyles" Target="tableStyle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font" Target="fonts/font7.fntdata"/><Relationship Id="rId8" Type="http://schemas.openxmlformats.org/officeDocument/2006/relationships/slide" Target="slides/slide3.xml"/><Relationship Id="rId51" Type="http://schemas.openxmlformats.org/officeDocument/2006/relationships/font" Target="fonts/font2.fntdata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font" Target="fonts/font5.fntdata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font" Target="fonts/font3.fntdata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na Lyn P. Lopez" userId="S::dplopez@national-u.edu.ph::d2ebdca6-9425-4510-aae9-6a5b56663cb9" providerId="AD" clId="Web-{3D71EE33-573B-423D-8153-F3878124C588}"/>
    <pc:docChg chg="modSld">
      <pc:chgData name="Donna Lyn P. Lopez" userId="S::dplopez@national-u.edu.ph::d2ebdca6-9425-4510-aae9-6a5b56663cb9" providerId="AD" clId="Web-{3D71EE33-573B-423D-8153-F3878124C588}" dt="2024-01-17T14:34:48.469" v="5"/>
      <pc:docMkLst>
        <pc:docMk/>
      </pc:docMkLst>
      <pc:sldChg chg="delSp">
        <pc:chgData name="Donna Lyn P. Lopez" userId="S::dplopez@national-u.edu.ph::d2ebdca6-9425-4510-aae9-6a5b56663cb9" providerId="AD" clId="Web-{3D71EE33-573B-423D-8153-F3878124C588}" dt="2024-01-17T13:44:41.192" v="0"/>
        <pc:sldMkLst>
          <pc:docMk/>
          <pc:sldMk cId="0" sldId="262"/>
        </pc:sldMkLst>
        <pc:spChg chg="del">
          <ac:chgData name="Donna Lyn P. Lopez" userId="S::dplopez@national-u.edu.ph::d2ebdca6-9425-4510-aae9-6a5b56663cb9" providerId="AD" clId="Web-{3D71EE33-573B-423D-8153-F3878124C588}" dt="2024-01-17T13:44:41.192" v="0"/>
          <ac:spMkLst>
            <pc:docMk/>
            <pc:sldMk cId="0" sldId="262"/>
            <ac:spMk id="320" creationId="{00000000-0000-0000-0000-000000000000}"/>
          </ac:spMkLst>
        </pc:spChg>
      </pc:sldChg>
      <pc:sldChg chg="modSp">
        <pc:chgData name="Donna Lyn P. Lopez" userId="S::dplopez@national-u.edu.ph::d2ebdca6-9425-4510-aae9-6a5b56663cb9" providerId="AD" clId="Web-{3D71EE33-573B-423D-8153-F3878124C588}" dt="2024-01-17T14:07:20.333" v="3" actId="20577"/>
        <pc:sldMkLst>
          <pc:docMk/>
          <pc:sldMk cId="0" sldId="274"/>
        </pc:sldMkLst>
        <pc:spChg chg="mod">
          <ac:chgData name="Donna Lyn P. Lopez" userId="S::dplopez@national-u.edu.ph::d2ebdca6-9425-4510-aae9-6a5b56663cb9" providerId="AD" clId="Web-{3D71EE33-573B-423D-8153-F3878124C588}" dt="2024-01-17T14:07:20.333" v="3" actId="20577"/>
          <ac:spMkLst>
            <pc:docMk/>
            <pc:sldMk cId="0" sldId="274"/>
            <ac:spMk id="415" creationId="{00000000-0000-0000-0000-000000000000}"/>
          </ac:spMkLst>
        </pc:spChg>
      </pc:sldChg>
      <pc:sldChg chg="delSp">
        <pc:chgData name="Donna Lyn P. Lopez" userId="S::dplopez@national-u.edu.ph::d2ebdca6-9425-4510-aae9-6a5b56663cb9" providerId="AD" clId="Web-{3D71EE33-573B-423D-8153-F3878124C588}" dt="2024-01-17T14:34:48.469" v="5"/>
        <pc:sldMkLst>
          <pc:docMk/>
          <pc:sldMk cId="0" sldId="302"/>
        </pc:sldMkLst>
        <pc:spChg chg="del">
          <ac:chgData name="Donna Lyn P. Lopez" userId="S::dplopez@national-u.edu.ph::d2ebdca6-9425-4510-aae9-6a5b56663cb9" providerId="AD" clId="Web-{3D71EE33-573B-423D-8153-F3878124C588}" dt="2024-01-17T14:34:48.469" v="5"/>
          <ac:spMkLst>
            <pc:docMk/>
            <pc:sldMk cId="0" sldId="302"/>
            <ac:spMk id="660" creationId="{00000000-0000-0000-0000-000000000000}"/>
          </ac:spMkLst>
        </pc:spChg>
        <pc:spChg chg="del">
          <ac:chgData name="Donna Lyn P. Lopez" userId="S::dplopez@national-u.edu.ph::d2ebdca6-9425-4510-aae9-6a5b56663cb9" providerId="AD" clId="Web-{3D71EE33-573B-423D-8153-F3878124C588}" dt="2024-01-17T14:34:45.797" v="4"/>
          <ac:spMkLst>
            <pc:docMk/>
            <pc:sldMk cId="0" sldId="302"/>
            <ac:spMk id="66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16d7d9d49_3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16d7d9d49_3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68369f895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168369f895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623af889d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623af889d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33ADEDC5-6E11-7908-1628-6D3514B49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623af889d_0_27:notes">
            <a:extLst>
              <a:ext uri="{FF2B5EF4-FFF2-40B4-BE49-F238E27FC236}">
                <a16:creationId xmlns:a16="http://schemas.microsoft.com/office/drawing/2014/main" id="{6B19D222-A98A-EAFE-AA42-08409208FF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623af889d_0_27:notes">
            <a:extLst>
              <a:ext uri="{FF2B5EF4-FFF2-40B4-BE49-F238E27FC236}">
                <a16:creationId xmlns:a16="http://schemas.microsoft.com/office/drawing/2014/main" id="{75E5A8C1-4661-E151-1F52-BCEBA3594F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5969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>
          <a:extLst>
            <a:ext uri="{FF2B5EF4-FFF2-40B4-BE49-F238E27FC236}">
              <a16:creationId xmlns:a16="http://schemas.microsoft.com/office/drawing/2014/main" id="{E1598774-DE5E-BC2D-EB83-A918E5D2A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:notes">
            <a:extLst>
              <a:ext uri="{FF2B5EF4-FFF2-40B4-BE49-F238E27FC236}">
                <a16:creationId xmlns:a16="http://schemas.microsoft.com/office/drawing/2014/main" id="{D271C1C7-3BF3-8E89-9293-A0ED7E4573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p:notes">
            <a:extLst>
              <a:ext uri="{FF2B5EF4-FFF2-40B4-BE49-F238E27FC236}">
                <a16:creationId xmlns:a16="http://schemas.microsoft.com/office/drawing/2014/main" id="{85B04C3F-94BB-5AAE-A960-76C30B7474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31901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9445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952A4816-9E7B-7C80-1105-F20A57E00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436C1EDD-C599-EC2D-D3A9-A4325EA99B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8FB2C9B5-87EA-640B-372B-D1CA35951B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68691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EE137ADF-3111-857C-2467-C123D3529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F331F8B8-717D-B1BF-586C-8C6D4B1377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A5C79231-A89E-704C-7157-27D1E83375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84834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7B9B2C6C-48CC-6EB2-BF5F-4A54B72ED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72ECB7C5-A7D1-BDF6-990A-F511F52BF4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F3CA04CE-AD4E-5E7F-E03A-E0A7274E46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35234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1C9B163F-B93E-CFD9-06CF-BAD9145F4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DA7B84D1-69B4-8F33-3273-9AB5FD35BC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513F9999-57F9-B555-7750-698852A6B2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21996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0FFDDAC9-C918-0FB4-1AE1-466E92C60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7EA19183-8194-D523-93C2-7B2768621C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A09F0131-D74F-EA68-A94D-063205D4C3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88411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D725557F-A27F-418C-0850-D52BD9003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8AA8837C-29A6-4A4C-5E3D-3976DFEAFC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2BEFB3C1-4516-4CD9-3FD1-39A9129D0D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84198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6E1C7489-26C3-067F-E2CB-06923F502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40197A36-8735-83B7-E87C-25C9B38A00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8B7812D3-7D58-1DDD-BF7C-7D675B3694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8483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5F203205-1DAA-1658-A195-D1255DAED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16BB923D-DEB2-6784-07AE-8863112BF5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31AA7F26-3C7A-9215-333F-2CF4966E32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46092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>
          <a:extLst>
            <a:ext uri="{FF2B5EF4-FFF2-40B4-BE49-F238E27FC236}">
              <a16:creationId xmlns:a16="http://schemas.microsoft.com/office/drawing/2014/main" id="{B1BF52E2-90D3-52B4-5F3E-6E7577D40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:notes">
            <a:extLst>
              <a:ext uri="{FF2B5EF4-FFF2-40B4-BE49-F238E27FC236}">
                <a16:creationId xmlns:a16="http://schemas.microsoft.com/office/drawing/2014/main" id="{BD97D7B7-F2FD-E65C-6836-FA8BFD59C6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p:notes">
            <a:extLst>
              <a:ext uri="{FF2B5EF4-FFF2-40B4-BE49-F238E27FC236}">
                <a16:creationId xmlns:a16="http://schemas.microsoft.com/office/drawing/2014/main" id="{65C76C10-9878-4699-929F-F373BCDACF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71504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D895F365-3DD6-B78E-F10C-AB2077A1C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935F521B-A26C-5470-449D-3A29028646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F42069C7-A227-DE0F-3FC2-4C3505ED32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44584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738D18DF-68B8-1A63-D88A-8ACA091C6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FD2E2FE0-4E8F-3736-5848-68712DDA29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24A72391-D1BF-EE42-4470-3BB85E9A44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92299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9ADA6AB0-0FBE-9F2F-CBC2-124FEFDFE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6C618B75-DB76-B3A5-2684-661128A93A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17A41328-0020-FDC4-BDEC-3CBBC4B8B4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26786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1AD11B97-B5EE-C90E-4993-449D44F18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8290117B-3E18-8413-68B0-8F8C276D63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0193E519-4FD1-1D09-4278-8F5E241306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32245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2FF7A57B-4139-E8F6-6475-009BE7539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07B8678C-A005-5CC8-F498-00675838CA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01144C75-4980-3928-B705-A24FB0C73E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993866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FB4AB866-94A5-74E8-B09A-BECFAABB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016F7BBE-5C8D-C969-BA51-51911FFEB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FE9CD7CA-350B-F61C-6DD1-D00B07AA98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90275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823DB7E6-AC8D-EA20-8910-04C4FCF04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275A7C9E-9912-5496-7772-D73B39F3B1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0A094AC0-DFB3-3C34-8928-94FD20E319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16461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560EE208-7D30-B89D-D6BE-7A69479B1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A049BBED-2A54-8709-1ABB-F0FFADFE7F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5DAED424-024C-F202-0EDB-11099129B4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44149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24E8C168-A8A5-7875-392F-71E5A4320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EC1B39CB-9F27-8E7F-CEF4-323ABD86FE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964305FA-E32A-F66E-E681-88DCF638E4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44021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C70B8F00-A600-B40E-B91E-2753ABEF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EB3F92C8-84AD-2059-F6F7-89EAB3CC99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FD0D7873-FB1F-1439-40D3-F27214A01D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557832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FA5BFE2D-4600-A9A0-189A-690BEFA27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0A7AFF0D-D2D1-9AF6-4127-3E7D7F1A69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43FD5457-7431-0E6C-8B74-61D5B9178C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358477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6854CD4F-1B40-ED22-84B5-995BAE728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7BF49935-B1E1-AA5D-068E-8AEBCC3772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217D76C7-331D-2E05-DFDF-8855DD8416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74258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>
          <a:extLst>
            <a:ext uri="{FF2B5EF4-FFF2-40B4-BE49-F238E27FC236}">
              <a16:creationId xmlns:a16="http://schemas.microsoft.com/office/drawing/2014/main" id="{4705C230-D884-A88B-E19D-4156A5554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:notes">
            <a:extLst>
              <a:ext uri="{FF2B5EF4-FFF2-40B4-BE49-F238E27FC236}">
                <a16:creationId xmlns:a16="http://schemas.microsoft.com/office/drawing/2014/main" id="{D9FC75E3-0BC9-FD61-5F81-E81EDB74C9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p:notes">
            <a:extLst>
              <a:ext uri="{FF2B5EF4-FFF2-40B4-BE49-F238E27FC236}">
                <a16:creationId xmlns:a16="http://schemas.microsoft.com/office/drawing/2014/main" id="{229AD812-7288-36F8-1DEB-642A58558A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7069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2AF83F15-DFA7-C6D2-73F5-E6099CB2A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A527846C-E290-6D1B-112A-FE32DE3442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01F8C566-6575-09B1-A01C-24A1C6DEF6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7206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6B98E0A2-4FAA-5B0F-72E8-3A87FBA80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A5633AEE-3AF8-9844-12B7-5C1007D52B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4634B43A-7BCE-C664-40D1-7939E4C746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02138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F6708DDA-0B6C-B091-ADF0-1C3D7D101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2CE96BFB-A769-1FCC-B522-777216F46F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4AFE914A-7832-4814-9423-C9A4661EFF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171185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D72355E9-3F89-E213-203B-1A79BA3FA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FC1073AE-6825-EC0A-CEA4-DCB66F03E1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9E593DFC-6F41-B9C3-7EDD-167503CC75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165226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C401FC10-80EB-F202-0280-A86E89933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3BA55596-6E4B-B3AE-FFD7-BDADE2DFD5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F840B9C3-0D4F-43A9-62A4-DA17D5AF8F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47587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>
          <a:extLst>
            <a:ext uri="{FF2B5EF4-FFF2-40B4-BE49-F238E27FC236}">
              <a16:creationId xmlns:a16="http://schemas.microsoft.com/office/drawing/2014/main" id="{AD32A9DB-F415-00D2-DA8E-41C58149C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:notes">
            <a:extLst>
              <a:ext uri="{FF2B5EF4-FFF2-40B4-BE49-F238E27FC236}">
                <a16:creationId xmlns:a16="http://schemas.microsoft.com/office/drawing/2014/main" id="{128572BD-5DEC-E77A-1CE1-52F3D1C2FA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p:notes">
            <a:extLst>
              <a:ext uri="{FF2B5EF4-FFF2-40B4-BE49-F238E27FC236}">
                <a16:creationId xmlns:a16="http://schemas.microsoft.com/office/drawing/2014/main" id="{27619EFF-547C-B557-741F-F40EBE4F18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55356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28D79E23-4C45-4443-09BA-7A43856FD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1F03BEDE-AEDC-173E-94E9-5EB9D33010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3C1DEA04-88AB-8240-E414-792824D686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219522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3782C180-1F02-DE9E-8DB3-4C3CC9015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A51C748A-6E23-3F81-491E-2EA88C2C4C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796D23BB-18D5-BCBA-BB0C-FCD9503453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446178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57E8BAF4-EE39-316C-BE0C-19F4DD24E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FB321499-20BF-3F5B-A65F-76ADA01CFC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9A41883E-C95B-17DB-BAC3-E9280F4964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75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845F1D57-E5DB-5A4F-F7CC-482B6CFF6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260B759E-C6D6-0272-B086-F0F383399C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6159CC8D-B431-1A93-9A1E-F0A67DD163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184213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35C686D1-932D-4B7D-0FCD-8E25C00FB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AF3DD826-A5D1-9AD7-F73D-15DD7702F1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BABE3FA9-D6A4-4AE5-6FCE-0D724C406F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990600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DF4482BD-07C9-B45D-D0DE-4B00C1C66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>
            <a:extLst>
              <a:ext uri="{FF2B5EF4-FFF2-40B4-BE49-F238E27FC236}">
                <a16:creationId xmlns:a16="http://schemas.microsoft.com/office/drawing/2014/main" id="{27811FA4-71EB-581C-3DB9-0AD21E7598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>
            <a:extLst>
              <a:ext uri="{FF2B5EF4-FFF2-40B4-BE49-F238E27FC236}">
                <a16:creationId xmlns:a16="http://schemas.microsoft.com/office/drawing/2014/main" id="{2735F656-50A8-171B-7C5B-E166B8C1D8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196269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F4BCCA7E-EFC1-7C6E-3598-3050AB0C3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623af889d_0_27:notes">
            <a:extLst>
              <a:ext uri="{FF2B5EF4-FFF2-40B4-BE49-F238E27FC236}">
                <a16:creationId xmlns:a16="http://schemas.microsoft.com/office/drawing/2014/main" id="{8D666D0B-0EC7-F720-2830-77CE0FB3AB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623af889d_0_27:notes">
            <a:extLst>
              <a:ext uri="{FF2B5EF4-FFF2-40B4-BE49-F238E27FC236}">
                <a16:creationId xmlns:a16="http://schemas.microsoft.com/office/drawing/2014/main" id="{9458D418-52E3-6861-5DA0-8C4AC37899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16898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804ee73e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1804ee73e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7030A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7030A0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  <a:defRPr>
                <a:solidFill>
                  <a:srgbClr val="000000"/>
                </a:solidFill>
              </a:defRPr>
            </a:lvl1pPr>
            <a:lvl2pPr marL="914400" lvl="1" indent="-355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  <a:defRPr sz="2000">
                <a:solidFill>
                  <a:srgbClr val="000000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tx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tx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chemeClr val="bg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63" name="Google Shape;63;p12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chemeClr val="bg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sldNum" idx="3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BEAAD3-100C-EE14-91BE-B6CB856155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36808" y="1301750"/>
            <a:ext cx="3810000" cy="254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7030A0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8" name="Google Shape;148;p28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9" name="Google Shape;149;p2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7030A0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2" name="Google Shape;152;p2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3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56" name="Google Shape;156;p30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0" name="Google Shape;160;p31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1" name="Google Shape;161;p3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1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32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0" name="Google Shape;170;p3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71" name="Google Shape;171;p3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74" name="Google Shape;174;p3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8" name="Google Shape;178;p3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9" name="Google Shape;179;p3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0" name="Google Shape;180;p3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83" name="Google Shape;183;p3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6" name="Google Shape;186;p3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7" name="Google Shape;187;p3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8" descr="Android-Developer-Cover.jpg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38"/>
          <p:cNvSpPr txBox="1">
            <a:spLocks noGrp="1"/>
          </p:cNvSpPr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8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93" name="Google Shape;193;p38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4" name="Google Shape;194;p38"/>
          <p:cNvSpPr txBox="1">
            <a:spLocks noGrp="1"/>
          </p:cNvSpPr>
          <p:nvPr>
            <p:ph type="subTitle" idx="3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95" name="Google Shape;195;p38" descr="footer.png"/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8"/>
          <p:cNvSpPr txBox="1">
            <a:spLocks noGrp="1"/>
          </p:cNvSpPr>
          <p:nvPr>
            <p:ph type="sldNum" idx="4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38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kotlinlang.org/docs/home.html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w3schools.com/KOTLIN/index.php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71" name="Google Shape;271;p53"/>
          <p:cNvSpPr txBox="1">
            <a:spLocks noGrp="1"/>
          </p:cNvSpPr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72" name="Google Shape;272;p53"/>
          <p:cNvSpPr txBox="1">
            <a:spLocks noGrp="1"/>
          </p:cNvSpPr>
          <p:nvPr>
            <p:ph type="title"/>
          </p:nvPr>
        </p:nvSpPr>
        <p:spPr>
          <a:xfrm>
            <a:off x="195700" y="1442886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Introduction to Kotlin</a:t>
            </a:r>
            <a:endParaRPr dirty="0"/>
          </a:p>
        </p:txBody>
      </p:sp>
      <p:sp>
        <p:nvSpPr>
          <p:cNvPr id="273" name="Google Shape;273;p53"/>
          <p:cNvSpPr txBox="1">
            <a:spLocks noGrp="1"/>
          </p:cNvSpPr>
          <p:nvPr>
            <p:ph type="sldNum" idx="3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75" name="Google Shape;275;p53"/>
          <p:cNvSpPr txBox="1"/>
          <p:nvPr/>
        </p:nvSpPr>
        <p:spPr>
          <a:xfrm>
            <a:off x="265500" y="3497911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Prepared By: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 err="1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Elizer</a:t>
            </a:r>
            <a:r>
              <a:rPr lang="en" sz="2100" dirty="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100" dirty="0" err="1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Ponio</a:t>
            </a:r>
            <a:r>
              <a:rPr lang="en" sz="2100" dirty="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 Jr</a:t>
            </a:r>
            <a:endParaRPr sz="2100" dirty="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214;p40">
            <a:extLst>
              <a:ext uri="{FF2B5EF4-FFF2-40B4-BE49-F238E27FC236}">
                <a16:creationId xmlns:a16="http://schemas.microsoft.com/office/drawing/2014/main" id="{940A9CE5-5A5F-4763-745F-3E566CFF501A}"/>
              </a:ext>
            </a:extLst>
          </p:cNvPr>
          <p:cNvSpPr txBox="1">
            <a:spLocks/>
          </p:cNvSpPr>
          <p:nvPr/>
        </p:nvSpPr>
        <p:spPr>
          <a:xfrm>
            <a:off x="265500" y="564125"/>
            <a:ext cx="4045200" cy="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  <a:defRPr sz="1600" b="0" i="0" u="none" strike="noStrike" cap="none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None/>
              <a:defRPr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None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None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None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None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None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None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None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en-PH" dirty="0"/>
              <a:t>CTAPDEVL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87" name="Google Shape;287;p5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88" name="Google Shape;288;p55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dirty="0"/>
              <a:t>What is Kotlin?</a:t>
            </a:r>
          </a:p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dirty="0"/>
              <a:t>Basics</a:t>
            </a:r>
          </a:p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dirty="0"/>
              <a:t>Conditional Statements</a:t>
            </a:r>
          </a:p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dirty="0"/>
              <a:t>Iteration</a:t>
            </a:r>
          </a:p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dirty="0"/>
              <a:t>Functions</a:t>
            </a:r>
          </a:p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dirty="0"/>
              <a:t>Kotlin OOP </a:t>
            </a:r>
          </a:p>
          <a:p>
            <a:pPr marL="7620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None/>
            </a:pPr>
            <a:endParaRPr lang="e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4"/>
          <p:cNvSpPr txBox="1">
            <a:spLocks noGrp="1"/>
          </p:cNvSpPr>
          <p:nvPr>
            <p:ph type="ctrTitle"/>
          </p:nvPr>
        </p:nvSpPr>
        <p:spPr>
          <a:xfrm>
            <a:off x="311700" y="1874796"/>
            <a:ext cx="8520600" cy="80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What is Kotlin?</a:t>
            </a:r>
            <a:endParaRPr dirty="0"/>
          </a:p>
        </p:txBody>
      </p:sp>
      <p:sp>
        <p:nvSpPr>
          <p:cNvPr id="281" name="Google Shape;281;p5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Kotlin?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0" name="Google Shape;300;p5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301" name="Google Shape;301;p57"/>
          <p:cNvSpPr txBox="1">
            <a:spLocks noGrp="1"/>
          </p:cNvSpPr>
          <p:nvPr>
            <p:ph type="body" idx="1"/>
          </p:nvPr>
        </p:nvSpPr>
        <p:spPr>
          <a:xfrm>
            <a:off x="311700" y="1076274"/>
            <a:ext cx="8520600" cy="39807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indent="0" algn="l">
              <a:buNone/>
            </a:pPr>
            <a:r>
              <a:rPr lang="en-PH" dirty="0"/>
              <a:t>Kotlin is a modern, trending programming language that was released in 2016 by JetBrains.</a:t>
            </a:r>
          </a:p>
          <a:p>
            <a:pPr marL="76200" indent="0" algn="l">
              <a:buNone/>
            </a:pPr>
            <a:endParaRPr lang="en-PH" dirty="0"/>
          </a:p>
          <a:p>
            <a:pPr marL="76200" indent="0" algn="l">
              <a:buNone/>
            </a:pPr>
            <a:r>
              <a:rPr lang="en-PH" dirty="0"/>
              <a:t>It has become very popular since it is compatible with Java, which means that Java code (and libraries) can be used in Kotlin programs.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endParaRPr lang="en-PH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>
          <a:extLst>
            <a:ext uri="{FF2B5EF4-FFF2-40B4-BE49-F238E27FC236}">
              <a16:creationId xmlns:a16="http://schemas.microsoft.com/office/drawing/2014/main" id="{BB6BB799-5FD0-FEBD-C7FC-494B8C08B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7">
            <a:extLst>
              <a:ext uri="{FF2B5EF4-FFF2-40B4-BE49-F238E27FC236}">
                <a16:creationId xmlns:a16="http://schemas.microsoft.com/office/drawing/2014/main" id="{BC1F7C16-0E20-41CD-05B5-B07B7FCF78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Kotlin?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0" name="Google Shape;300;p57">
            <a:extLst>
              <a:ext uri="{FF2B5EF4-FFF2-40B4-BE49-F238E27FC236}">
                <a16:creationId xmlns:a16="http://schemas.microsoft.com/office/drawing/2014/main" id="{54E5B969-F2C8-1A67-E78F-C9B5FFB6D2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301" name="Google Shape;301;p57">
            <a:extLst>
              <a:ext uri="{FF2B5EF4-FFF2-40B4-BE49-F238E27FC236}">
                <a16:creationId xmlns:a16="http://schemas.microsoft.com/office/drawing/2014/main" id="{FBA2E0A6-19DA-C64B-DE10-702F05F11D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76274"/>
            <a:ext cx="8520600" cy="39807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PH" sz="2200" dirty="0"/>
              <a:t>Kotlin is fully compatible with Java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PH" sz="2200" dirty="0"/>
              <a:t>Kotlin works on different platforms (Windows, Mac, Linux, Raspberry Pi, etc.)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PH" sz="2200" dirty="0"/>
              <a:t>Kotlin is concise and safe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PH" sz="2200" dirty="0"/>
              <a:t>Kotlin is easy to learn, especially if you already know Java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PH" sz="2200" dirty="0"/>
              <a:t>Kotlin is free to use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PH" sz="2200" dirty="0"/>
              <a:t>Big community/support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endParaRPr lang="en-PH" sz="2200" dirty="0"/>
          </a:p>
        </p:txBody>
      </p:sp>
    </p:spTree>
    <p:extLst>
      <p:ext uri="{BB962C8B-B14F-4D97-AF65-F5344CB8AC3E}">
        <p14:creationId xmlns:p14="http://schemas.microsoft.com/office/powerpoint/2010/main" val="3091903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>
          <a:extLst>
            <a:ext uri="{FF2B5EF4-FFF2-40B4-BE49-F238E27FC236}">
              <a16:creationId xmlns:a16="http://schemas.microsoft.com/office/drawing/2014/main" id="{C6898787-5BD8-E3D9-4967-6543EE71D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4">
            <a:extLst>
              <a:ext uri="{FF2B5EF4-FFF2-40B4-BE49-F238E27FC236}">
                <a16:creationId xmlns:a16="http://schemas.microsoft.com/office/drawing/2014/main" id="{35FAB5AE-00FF-D785-9B56-016F0275EEC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1874796"/>
            <a:ext cx="8520600" cy="80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Basics</a:t>
            </a:r>
            <a:endParaRPr dirty="0"/>
          </a:p>
        </p:txBody>
      </p:sp>
      <p:sp>
        <p:nvSpPr>
          <p:cNvPr id="281" name="Google Shape;281;p54">
            <a:extLst>
              <a:ext uri="{FF2B5EF4-FFF2-40B4-BE49-F238E27FC236}">
                <a16:creationId xmlns:a16="http://schemas.microsoft.com/office/drawing/2014/main" id="{9FB75FF1-4657-DB6C-C931-E67D4C429D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5382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Printing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7" name="Google Shape;307;p5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2DEB52-0631-7537-5A8B-73232622231A}"/>
              </a:ext>
            </a:extLst>
          </p:cNvPr>
          <p:cNvSpPr txBox="1"/>
          <p:nvPr/>
        </p:nvSpPr>
        <p:spPr>
          <a:xfrm>
            <a:off x="311699" y="1886202"/>
            <a:ext cx="852059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PH" sz="2500" dirty="0">
                <a:solidFill>
                  <a:srgbClr val="56A8F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PH" sz="25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PH" sz="25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PH" sz="25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PH" sz="2500" i="1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5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500" dirty="0">
                <a:solidFill>
                  <a:srgbClr val="6AAB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"Hello World!"</a:t>
            </a:r>
            <a:r>
              <a:rPr lang="en-PH" sz="25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PH" sz="25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PH" sz="25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PH" sz="2500" i="1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5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500" dirty="0">
                <a:solidFill>
                  <a:srgbClr val="6AAB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"I am learning Kotlin."</a:t>
            </a:r>
            <a:r>
              <a:rPr lang="en-PH" sz="25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PH" sz="25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PH" sz="25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PH" sz="2500" i="1" dirty="0" err="1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5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500" dirty="0">
                <a:solidFill>
                  <a:srgbClr val="6AAB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"It is awesome!"</a:t>
            </a:r>
            <a:r>
              <a:rPr lang="en-PH" sz="25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PH" sz="25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PH" sz="25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25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239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F69BD448-B5F5-2063-AF5B-21C09BAC9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E0FE1D31-E28F-9A0A-ED7B-CF5D06BD93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Comments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F80A4A79-4A70-AC8C-377E-A004E9CE3C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0E5119-3C72-AE1A-83DF-828924DD51D1}"/>
              </a:ext>
            </a:extLst>
          </p:cNvPr>
          <p:cNvSpPr txBox="1"/>
          <p:nvPr/>
        </p:nvSpPr>
        <p:spPr>
          <a:xfrm>
            <a:off x="311699" y="1886202"/>
            <a:ext cx="8520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6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This is a comment</a:t>
            </a:r>
            <a:r>
              <a:rPr lang="en-PH" sz="3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6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36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36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"Hello World"</a:t>
            </a:r>
            <a:r>
              <a:rPr lang="en-PH" sz="36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3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25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781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21F3CBC5-C3E3-4540-6991-5F2EFCB77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B52F560A-CB9D-9AE9-F729-385CFB2780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Multi-line comments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9876AAAE-9659-D644-1648-6DB16D79C6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9BA72B-5F1B-38B0-1AE5-A29D7091A0CA}"/>
              </a:ext>
            </a:extLst>
          </p:cNvPr>
          <p:cNvSpPr txBox="1"/>
          <p:nvPr/>
        </p:nvSpPr>
        <p:spPr>
          <a:xfrm>
            <a:off x="311699" y="1886202"/>
            <a:ext cx="852059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/* The code below will print the words Hello World to the screen, and it is amazing */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5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"Hello World"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25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001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124BAAEA-725F-4AD1-702C-2DD915932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3916201B-DFA8-1457-05D9-A01B1F1EC3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Variables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E9D568DA-5A3A-62C6-BF4E-AC6F2FC43F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E02149-65C7-2FBF-8E39-105533C67464}"/>
              </a:ext>
            </a:extLst>
          </p:cNvPr>
          <p:cNvSpPr txBox="1"/>
          <p:nvPr/>
        </p:nvSpPr>
        <p:spPr>
          <a:xfrm>
            <a:off x="311699" y="1886202"/>
            <a:ext cx="852059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3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"John"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300" dirty="0" err="1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birthyear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1975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3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3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3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PH" sz="23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Print the value of name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3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3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birthyear</a:t>
            </a:r>
            <a:r>
              <a:rPr lang="en-PH" sz="23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Print the value of birthyear</a:t>
            </a:r>
            <a:endParaRPr lang="en-US" sz="23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477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6D14ED94-F008-C1D5-1BCF-002FC2A98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C10ED693-C008-67FC-70CF-472BF36707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Specifying Variable Type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1A6DE214-C6C7-5231-32AB-785518C050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8F1508-47E3-AB32-E702-C68BFEBB5D6F}"/>
              </a:ext>
            </a:extLst>
          </p:cNvPr>
          <p:cNvSpPr txBox="1"/>
          <p:nvPr/>
        </p:nvSpPr>
        <p:spPr>
          <a:xfrm>
            <a:off x="311699" y="1886202"/>
            <a:ext cx="852059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3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name: String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"John"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300" dirty="0" err="1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birthyear: Int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1975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3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3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3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PH" sz="23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Print the value of name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3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3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birthyear</a:t>
            </a:r>
            <a:r>
              <a:rPr lang="en-PH" sz="23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Print the value of birthyear</a:t>
            </a:r>
            <a:endParaRPr lang="en-US" sz="23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401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CC5C6D2F-7A61-054E-CD88-0C0D77258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9F95C615-2163-DBE3-4832-BD0C805268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Data Types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42708320-0F19-84EF-0BF1-F793CA1EC8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1EF710-9633-9877-9F26-84D060CA9E09}"/>
              </a:ext>
            </a:extLst>
          </p:cNvPr>
          <p:cNvSpPr txBox="1"/>
          <p:nvPr/>
        </p:nvSpPr>
        <p:spPr>
          <a:xfrm>
            <a:off x="311699" y="1886202"/>
            <a:ext cx="852059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200" dirty="0" err="1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myNum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Int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200" dirty="0" err="1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myDoubleNum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5.99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Double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200" dirty="0" err="1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myLetter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'D'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Char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200" dirty="0" err="1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myBoolean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Boolean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200" dirty="0" err="1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myText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"Hello"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String</a:t>
            </a:r>
            <a:endParaRPr lang="en-US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184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5D424A1C-A87C-0D4E-925E-0BDC199C4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E0DAEBE2-1A0F-977D-EE76-DDECA3BC8B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Operators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CD813F7F-FC92-A534-6703-72E223A986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9A7EC1-7A2F-EECD-3F23-F1FC00C39848}"/>
              </a:ext>
            </a:extLst>
          </p:cNvPr>
          <p:cNvSpPr txBox="1"/>
          <p:nvPr/>
        </p:nvSpPr>
        <p:spPr>
          <a:xfrm>
            <a:off x="311699" y="1886202"/>
            <a:ext cx="852059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2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sum1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2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2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2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2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50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2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150 (100 + 50)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32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sum2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2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sum1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2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2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250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2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400 (150 + 250)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32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sum3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2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sum2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2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sum2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2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800 (400 + 400)</a:t>
            </a:r>
            <a:endParaRPr lang="en-US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735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360C87A4-C34F-956D-3E0F-F291E8146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E87D1A90-90AF-0104-BCC1-3DF8A3D6EF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Boolean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6FD7290B-D061-3329-A558-ED17BBC5D7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229064-8B16-C1C0-C0D3-9D33F1118957}"/>
              </a:ext>
            </a:extLst>
          </p:cNvPr>
          <p:cNvSpPr txBox="1"/>
          <p:nvPr/>
        </p:nvSpPr>
        <p:spPr>
          <a:xfrm>
            <a:off x="311699" y="1886202"/>
            <a:ext cx="852059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 err="1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isKotlinFun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500" dirty="0" err="1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isFishTasty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5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5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isKotlinFun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Outputs true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5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isFishTasty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Outputs false </a:t>
            </a:r>
            <a:endParaRPr lang="en-US" sz="25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568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1FB2CDEF-CE98-9A3B-1F57-4795B24BA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EB37B96B-3995-F5D9-8AF8-79BE85C882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Boolean Expression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52C493B5-9D47-0228-5BFB-C00CB3704C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68443E-1E0B-EA43-C60A-449ED7F465E9}"/>
              </a:ext>
            </a:extLst>
          </p:cNvPr>
          <p:cNvSpPr txBox="1"/>
          <p:nvPr/>
        </p:nvSpPr>
        <p:spPr>
          <a:xfrm>
            <a:off x="311701" y="1458342"/>
            <a:ext cx="852059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200" dirty="0" err="1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200" dirty="0" err="1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br>
              <a:rPr lang="en-PH" sz="22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PH" sz="22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Returns true, because 10 is greater than 9</a:t>
            </a:r>
          </a:p>
          <a:p>
            <a:r>
              <a:rPr lang="en-PH" sz="22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9A6E3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Returns False, because 10 is greater than 9</a:t>
            </a:r>
            <a:endParaRPr lang="en-PH" sz="2200" dirty="0">
              <a:solidFill>
                <a:srgbClr val="70809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PH" sz="22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9A6E3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Returns False, because 10 is greater than 9</a:t>
            </a:r>
          </a:p>
        </p:txBody>
      </p:sp>
    </p:spTree>
    <p:extLst>
      <p:ext uri="{BB962C8B-B14F-4D97-AF65-F5344CB8AC3E}">
        <p14:creationId xmlns:p14="http://schemas.microsoft.com/office/powerpoint/2010/main" val="1854941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>
          <a:extLst>
            <a:ext uri="{FF2B5EF4-FFF2-40B4-BE49-F238E27FC236}">
              <a16:creationId xmlns:a16="http://schemas.microsoft.com/office/drawing/2014/main" id="{204F51BE-2B47-662E-B03F-3263D75A2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4">
            <a:extLst>
              <a:ext uri="{FF2B5EF4-FFF2-40B4-BE49-F238E27FC236}">
                <a16:creationId xmlns:a16="http://schemas.microsoft.com/office/drawing/2014/main" id="{6E3ED191-F62A-789D-9617-2B8981A8124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1874796"/>
            <a:ext cx="8520600" cy="80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Conditional Statements</a:t>
            </a:r>
            <a:endParaRPr dirty="0"/>
          </a:p>
        </p:txBody>
      </p:sp>
      <p:sp>
        <p:nvSpPr>
          <p:cNvPr id="281" name="Google Shape;281;p54">
            <a:extLst>
              <a:ext uri="{FF2B5EF4-FFF2-40B4-BE49-F238E27FC236}">
                <a16:creationId xmlns:a16="http://schemas.microsoft.com/office/drawing/2014/main" id="{CAE789C6-606E-1975-86EF-DA8F4B07CE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2836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515E166A-6BF5-B612-67DD-ABF579CBF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1985872C-E3E3-329C-A43B-C82B82F9C8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If..Else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8DEF140E-47EB-EA10-0E1C-12C2C1FB12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35F577-39C2-A1B6-5B3A-5905A0C50305}"/>
              </a:ext>
            </a:extLst>
          </p:cNvPr>
          <p:cNvSpPr txBox="1"/>
          <p:nvPr/>
        </p:nvSpPr>
        <p:spPr>
          <a:xfrm>
            <a:off x="311701" y="1458342"/>
            <a:ext cx="85205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2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32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2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2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18</a:t>
            </a:r>
            <a:r>
              <a:rPr lang="en-PH" sz="3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1"/>
            <a:r>
              <a:rPr lang="en-PH" sz="32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32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3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32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"20 is greater than 18"</a:t>
            </a:r>
            <a:r>
              <a:rPr lang="en-PH" sz="3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3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295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0C81B2E0-556E-C33B-00D2-CCC777603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9EFF9F9F-FB8C-2F12-CDB4-477300F199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If..Else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F8D959C8-5B78-D0A2-FC54-9C9EBAC8E4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28AC52-9075-2180-E566-28E0A52FFF1A}"/>
              </a:ext>
            </a:extLst>
          </p:cNvPr>
          <p:cNvSpPr txBox="1"/>
          <p:nvPr/>
        </p:nvSpPr>
        <p:spPr>
          <a:xfrm>
            <a:off x="311701" y="1458342"/>
            <a:ext cx="85205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 err="1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18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8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28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8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"Good day."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8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28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8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"Good evening."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Outputs "Good evening."</a:t>
            </a:r>
            <a:endParaRPr lang="en-PH" sz="2800" dirty="0">
              <a:solidFill>
                <a:srgbClr val="999999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782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450C2E32-36AF-E376-ED3C-9765FDF1C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F7D6CDC2-E242-9553-C559-AB954B975B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If..Else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644A31FD-40DA-2AA0-CFC3-EFA8324F97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C90DBA-595D-FBE9-7D07-4D6DEDD0B18B}"/>
              </a:ext>
            </a:extLst>
          </p:cNvPr>
          <p:cNvSpPr txBox="1"/>
          <p:nvPr/>
        </p:nvSpPr>
        <p:spPr>
          <a:xfrm>
            <a:off x="311701" y="1279361"/>
            <a:ext cx="852059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 err="1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22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5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5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25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5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"Good morning."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5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25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5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"Good day."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5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25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5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"Good evening."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5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Outputs "Good evening."</a:t>
            </a:r>
            <a:endParaRPr lang="en-PH" sz="2500" dirty="0">
              <a:solidFill>
                <a:srgbClr val="999999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459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21A8A9ED-8514-4438-66D1-8FFAAEA1B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2E8378A5-20C4-2EA0-468F-627C8D0482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when (switch in Java)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8D184F4A-B284-11C9-DAEB-BD09B867066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498E18-9D8A-A3C4-D6BE-C54280885576}"/>
              </a:ext>
            </a:extLst>
          </p:cNvPr>
          <p:cNvSpPr txBox="1"/>
          <p:nvPr/>
        </p:nvSpPr>
        <p:spPr>
          <a:xfrm>
            <a:off x="311701" y="1279361"/>
            <a:ext cx="852059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800" dirty="0" err="1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day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1800" dirty="0" err="1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when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day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5"/>
            <a:r>
              <a:rPr lang="en-PH" sz="18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1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"Monday"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5"/>
            <a:r>
              <a:rPr lang="en-PH" sz="18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2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"Tuesday"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5"/>
            <a:r>
              <a:rPr lang="en-PH" sz="18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3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"Wednesday"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5"/>
            <a:r>
              <a:rPr lang="en-PH" sz="18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4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"Thursday"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5"/>
            <a:r>
              <a:rPr lang="en-PH" sz="18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5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"Friday"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5"/>
            <a:r>
              <a:rPr lang="en-PH" sz="18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6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"Saturday"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5"/>
            <a:r>
              <a:rPr lang="en-PH" sz="18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7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"Sunday"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5"/>
            <a:r>
              <a:rPr lang="en-PH" sz="1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else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"Invalid day."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18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18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Outputs "Thursday" (day 4)</a:t>
            </a:r>
            <a:endParaRPr lang="en-PH" sz="1800" dirty="0">
              <a:solidFill>
                <a:srgbClr val="999999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8609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1342C4F7-0C16-021A-480D-E57C1839C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3B9998B5-44E2-A9B2-FCEA-2DFDE4C8DB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while loop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93BDDAF0-90BE-4A66-03F4-9AB886A485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146111-055E-9B24-428D-F961E985C44C}"/>
              </a:ext>
            </a:extLst>
          </p:cNvPr>
          <p:cNvSpPr txBox="1"/>
          <p:nvPr/>
        </p:nvSpPr>
        <p:spPr>
          <a:xfrm>
            <a:off x="311701" y="1279361"/>
            <a:ext cx="85205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PH" sz="3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PH" sz="3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0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3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0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PH" sz="3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endParaRPr lang="en-PH" sz="3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PH" sz="30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PH" sz="3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3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PH" sz="3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0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PH" sz="3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0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3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3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PH" sz="3000" dirty="0">
                <a:solidFill>
                  <a:srgbClr val="DD4A6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PH" sz="30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3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3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PH" sz="3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PH" sz="3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PH" sz="3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PH" sz="30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</a:p>
          <a:p>
            <a:r>
              <a:rPr lang="en-PH" sz="3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PH" sz="3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PH" sz="3000" dirty="0">
              <a:solidFill>
                <a:srgbClr val="999999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272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374FF285-8B30-E7C8-E6FE-44AA3B44E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EEB9FD01-5A22-5B6D-CCD4-A9D7C7E41E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do while loop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7DE19811-0CEC-CB22-8260-CF1C01E499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1EA29A-0142-8ED6-91A4-9E310C7C6DD1}"/>
              </a:ext>
            </a:extLst>
          </p:cNvPr>
          <p:cNvSpPr txBox="1"/>
          <p:nvPr/>
        </p:nvSpPr>
        <p:spPr>
          <a:xfrm>
            <a:off x="311701" y="1279361"/>
            <a:ext cx="852059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PH" sz="3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PH" sz="3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0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3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0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PH" sz="3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endParaRPr lang="en-PH" sz="3000" dirty="0">
              <a:solidFill>
                <a:srgbClr val="0077AA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PH" sz="30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do</a:t>
            </a:r>
            <a:r>
              <a:rPr lang="en-PH" sz="3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3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3000" dirty="0">
                <a:solidFill>
                  <a:srgbClr val="DD4A6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PH" sz="30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3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3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PH" sz="3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PH" sz="3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PH" sz="3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PH" sz="30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PH" sz="3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3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PH" sz="3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30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PH" sz="3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3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PH" sz="3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0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PH" sz="3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0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3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3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PH" sz="3000" dirty="0">
              <a:solidFill>
                <a:srgbClr val="999999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0050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847F3A0E-3A3C-D6FA-CA6A-9501E6690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4DCD930B-486A-86A9-1B78-2605B97ABB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break statement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E5D7F8B7-0491-8F58-74A7-3A9B178290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D9FDD1-B4F6-D100-786E-42D7409940E4}"/>
              </a:ext>
            </a:extLst>
          </p:cNvPr>
          <p:cNvSpPr txBox="1"/>
          <p:nvPr/>
        </p:nvSpPr>
        <p:spPr>
          <a:xfrm>
            <a:off x="311701" y="1279361"/>
            <a:ext cx="8520599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endParaRPr lang="en-PH" sz="25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PH" sz="25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5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500" dirty="0">
                <a:solidFill>
                  <a:srgbClr val="DD4A6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PH" sz="25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5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PH" sz="25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PH" sz="25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500" dirty="0">
                <a:solidFill>
                  <a:srgbClr val="0077A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PH" sz="25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5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500" dirty="0">
                <a:solidFill>
                  <a:srgbClr val="0077A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PH" sz="25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</a:p>
          <a:p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645889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7CB6174C-BC78-CA4C-8033-A23261EC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93E635C7-01F0-7C8D-792C-7E3C2A2CDE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continue statement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89742017-AD0D-2D9A-0D40-9CE00C54EE2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716E58-AE90-5CF8-F5D8-D6D9B715328F}"/>
              </a:ext>
            </a:extLst>
          </p:cNvPr>
          <p:cNvSpPr txBox="1"/>
          <p:nvPr/>
        </p:nvSpPr>
        <p:spPr>
          <a:xfrm>
            <a:off x="311701" y="1279361"/>
            <a:ext cx="8520599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5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5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5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if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5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PH" sz="25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PH" sz="25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</a:p>
          <a:p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PH" sz="25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continue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}	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500" dirty="0">
                <a:solidFill>
                  <a:srgbClr val="DD4A6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PH" sz="25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5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PH" sz="25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PH" sz="25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b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780515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E044E9BC-9A7B-7C35-5775-684FD0564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DE2DD2E2-17D7-0EB0-3108-CF886A59E2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Arrays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65DB68C3-9661-3401-28B2-01F9F05483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DF3338-6022-122E-83D8-3391E96CDB5D}"/>
              </a:ext>
            </a:extLst>
          </p:cNvPr>
          <p:cNvSpPr txBox="1"/>
          <p:nvPr/>
        </p:nvSpPr>
        <p:spPr>
          <a:xfrm>
            <a:off x="311701" y="1279361"/>
            <a:ext cx="8520599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200" dirty="0" err="1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cars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arrayOf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2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"Volvo"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"BMW"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"Ford"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"Mazda"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PH" sz="2200" dirty="0">
              <a:solidFill>
                <a:srgbClr val="999999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PH" sz="22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cars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PH" sz="22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]) // prints Volvo</a:t>
            </a:r>
          </a:p>
          <a:p>
            <a:r>
              <a:rPr lang="en-PH" sz="22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cars.size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// prints 4</a:t>
            </a:r>
          </a:p>
          <a:p>
            <a:endParaRPr lang="en-PH" sz="2200" dirty="0">
              <a:solidFill>
                <a:srgbClr val="999999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PH" sz="22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2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"Volvo"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cars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2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22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2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"It exists!"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2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22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2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"It does not exist."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PH" sz="2200" dirty="0">
                <a:solidFill>
                  <a:srgbClr val="9999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Outputs It exists!</a:t>
            </a:r>
            <a:endParaRPr lang="en-PH" sz="2200" dirty="0">
              <a:solidFill>
                <a:srgbClr val="999999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9494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AA5F2DDE-3253-E5CA-828A-8C8A8307B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C27D45EE-CC73-80F6-21AA-5541CAA157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For Loop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C7ED7E6D-58DD-A7D5-6335-D4235BD6F5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5CCAD2-7625-57D3-8409-3F371EDF04A3}"/>
              </a:ext>
            </a:extLst>
          </p:cNvPr>
          <p:cNvSpPr txBox="1"/>
          <p:nvPr/>
        </p:nvSpPr>
        <p:spPr>
          <a:xfrm>
            <a:off x="311701" y="1279361"/>
            <a:ext cx="8520599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300" dirty="0" err="1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cars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arrayOf</a:t>
            </a:r>
            <a:r>
              <a:rPr lang="en-PH" sz="23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3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"Volvo"</a:t>
            </a:r>
            <a:r>
              <a:rPr lang="en-PH" sz="23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"BMW"</a:t>
            </a:r>
            <a:r>
              <a:rPr lang="en-PH" sz="23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"Ford"</a:t>
            </a:r>
            <a:r>
              <a:rPr lang="en-PH" sz="23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"Mazda"</a:t>
            </a:r>
            <a:r>
              <a:rPr lang="en-PH" sz="23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endParaRPr lang="en-PH" sz="23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PH" sz="23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3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cars</a:t>
            </a:r>
            <a:r>
              <a:rPr lang="en-PH" sz="23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3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3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23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3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3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23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3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3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331048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12572339-E9F7-70DD-1B3F-399D7B334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B224AC4A-03FA-3E0F-E0A1-9E463E95A4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Range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8412CB99-231F-04B1-D52B-E8910D68BD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29DD67-FB9C-C395-B6B9-1BA72BBDA60D}"/>
              </a:ext>
            </a:extLst>
          </p:cNvPr>
          <p:cNvSpPr txBox="1"/>
          <p:nvPr/>
        </p:nvSpPr>
        <p:spPr>
          <a:xfrm>
            <a:off x="311701" y="1279361"/>
            <a:ext cx="85205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40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PH" sz="4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4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4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nums</a:t>
            </a:r>
            <a:r>
              <a:rPr lang="en-PH" sz="4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40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PH" sz="4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40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40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..</a:t>
            </a:r>
            <a:r>
              <a:rPr lang="en-PH" sz="40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15</a:t>
            </a:r>
            <a:r>
              <a:rPr lang="en-PH" sz="4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4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4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4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40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40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4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4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nums</a:t>
            </a:r>
            <a:r>
              <a:rPr lang="en-PH" sz="4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4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4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840318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F9B479EB-8C4B-15E5-354D-54BD9E611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6532F598-CE35-1392-69DD-3B24B54B74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Range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5E6226BA-821A-5D54-985C-C785F0C947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B46119-1B04-0A88-67EE-CDD341B3A9F5}"/>
              </a:ext>
            </a:extLst>
          </p:cNvPr>
          <p:cNvSpPr txBox="1"/>
          <p:nvPr/>
        </p:nvSpPr>
        <p:spPr>
          <a:xfrm>
            <a:off x="311701" y="1279361"/>
            <a:ext cx="85205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40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PH" sz="4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4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4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chars</a:t>
            </a:r>
            <a:r>
              <a:rPr lang="en-PH" sz="4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40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PH" sz="4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40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PH" sz="4000" dirty="0" err="1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a'</a:t>
            </a:r>
            <a:r>
              <a:rPr lang="en-PH" sz="4000" dirty="0" err="1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..</a:t>
            </a:r>
            <a:r>
              <a:rPr lang="en-PH" sz="4000" dirty="0" err="1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'x</a:t>
            </a:r>
            <a:r>
              <a:rPr lang="en-PH" sz="40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PH" sz="4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4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4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4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40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40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4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4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chars</a:t>
            </a:r>
            <a:r>
              <a:rPr lang="en-PH" sz="4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4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4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2300" dirty="0">
              <a:solidFill>
                <a:srgbClr val="999999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8388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>
          <a:extLst>
            <a:ext uri="{FF2B5EF4-FFF2-40B4-BE49-F238E27FC236}">
              <a16:creationId xmlns:a16="http://schemas.microsoft.com/office/drawing/2014/main" id="{75C0CECB-336C-DBD6-1749-F1A799B98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4">
            <a:extLst>
              <a:ext uri="{FF2B5EF4-FFF2-40B4-BE49-F238E27FC236}">
                <a16:creationId xmlns:a16="http://schemas.microsoft.com/office/drawing/2014/main" id="{43E6C057-4466-5429-9A52-7185F5210D8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1874796"/>
            <a:ext cx="8520600" cy="80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81" name="Google Shape;281;p54">
            <a:extLst>
              <a:ext uri="{FF2B5EF4-FFF2-40B4-BE49-F238E27FC236}">
                <a16:creationId xmlns:a16="http://schemas.microsoft.com/office/drawing/2014/main" id="{3DCDA228-60DF-177D-0D24-BFF8BC7C55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71813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742ED900-CABE-8EE4-BAE5-3FEBBC860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C351948E-8E38-8AA8-3A91-FFEB9956A8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Functions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808A04D8-97CF-D839-064F-7E82E4F150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24A56D-FAB6-3080-188D-05ECA23F3E45}"/>
              </a:ext>
            </a:extLst>
          </p:cNvPr>
          <p:cNvSpPr txBox="1"/>
          <p:nvPr/>
        </p:nvSpPr>
        <p:spPr>
          <a:xfrm>
            <a:off x="311701" y="1279361"/>
            <a:ext cx="85205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2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2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myFunction</a:t>
            </a:r>
            <a:r>
              <a:rPr lang="en-PH" sz="3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3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32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32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3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32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"I just got executed!"</a:t>
            </a:r>
            <a:r>
              <a:rPr lang="en-PH" sz="3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3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PH" sz="2300" dirty="0">
              <a:solidFill>
                <a:srgbClr val="999999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0917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9E784606-58DB-A879-DD24-7CACA9EDA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239A5DD3-B95C-8B49-D2F0-6D2D9318CB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Function with Parameters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1C8B81F9-DC00-BAC3-7F86-1BF9E32016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97246B-03E6-37AF-EC22-D49734318E29}"/>
              </a:ext>
            </a:extLst>
          </p:cNvPr>
          <p:cNvSpPr txBox="1"/>
          <p:nvPr/>
        </p:nvSpPr>
        <p:spPr>
          <a:xfrm>
            <a:off x="311701" y="1279361"/>
            <a:ext cx="85205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0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myFunction</a:t>
            </a:r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PH" sz="20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PH" sz="2000" dirty="0">
                <a:solidFill>
                  <a:srgbClr val="DD4A6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PH" sz="20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0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0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Doe"</a:t>
            </a:r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endParaRPr lang="en-PH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PH" sz="20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0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000" dirty="0">
                <a:solidFill>
                  <a:srgbClr val="DD4A6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PH" sz="20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myFunction</a:t>
            </a:r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0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"John"</a:t>
            </a:r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000" dirty="0">
                <a:solidFill>
                  <a:srgbClr val="DD4A6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PH" sz="20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myFunction</a:t>
            </a:r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0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"Jane"</a:t>
            </a:r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000" dirty="0">
                <a:solidFill>
                  <a:srgbClr val="DD4A6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PH" sz="20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myFunction</a:t>
            </a:r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0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"George"</a:t>
            </a:r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0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John Doe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0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Jane Doe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0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George Doe</a:t>
            </a:r>
            <a:endParaRPr lang="en-PH" sz="2000" dirty="0">
              <a:solidFill>
                <a:srgbClr val="999999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9004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0492A2DD-D617-B4A6-2A09-2547941FF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2CB64058-4B38-DA60-2469-6C384B440A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Function with Multiple Parameters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8110B53D-853C-6D7C-4512-D823D95D24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BAA956-AE61-FCB1-3848-408939E8626D}"/>
              </a:ext>
            </a:extLst>
          </p:cNvPr>
          <p:cNvSpPr txBox="1"/>
          <p:nvPr/>
        </p:nvSpPr>
        <p:spPr>
          <a:xfrm>
            <a:off x="311701" y="1279361"/>
            <a:ext cx="85205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0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myFunction</a:t>
            </a:r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PH" sz="20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String, age: Int</a:t>
            </a:r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PH" sz="20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PH" sz="20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fname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0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0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is " + </a:t>
            </a:r>
            <a:r>
              <a:rPr lang="en-PH" sz="2000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</a:t>
            </a:r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endParaRPr lang="en-PH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PH" sz="20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0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0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PH" sz="20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myFunction</a:t>
            </a:r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0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"John”, </a:t>
            </a:r>
            <a:r>
              <a:rPr lang="en-PH" sz="200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21</a:t>
            </a:r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000" dirty="0">
                <a:solidFill>
                  <a:srgbClr val="DD4A6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PH" sz="20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myFunction</a:t>
            </a:r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0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"Jane”, </a:t>
            </a:r>
            <a:r>
              <a:rPr lang="en-PH" sz="200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22</a:t>
            </a:r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r>
              <a:rPr lang="en-PH" sz="20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PH" sz="20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myFunction</a:t>
            </a:r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0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"George”, </a:t>
            </a:r>
            <a:r>
              <a:rPr lang="en-PH" sz="200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0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0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John is 21</a:t>
            </a:r>
            <a:r>
              <a:rPr lang="en-PH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0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Jane is 22</a:t>
            </a:r>
            <a:endParaRPr lang="en-PH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PH" sz="20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George Doe is 23</a:t>
            </a:r>
            <a:endParaRPr lang="en-PH" sz="2000" dirty="0">
              <a:solidFill>
                <a:srgbClr val="999999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5320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3C95BD83-3D89-D255-AED1-2571D4E28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95E7DB80-3971-9796-580A-50F50FE3F1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Function with return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6AD80592-34BD-132F-8440-FC62BA501A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7D8D96-F1FA-C6C4-9945-F4013636C02F}"/>
              </a:ext>
            </a:extLst>
          </p:cNvPr>
          <p:cNvSpPr txBox="1"/>
          <p:nvPr/>
        </p:nvSpPr>
        <p:spPr>
          <a:xfrm>
            <a:off x="311701" y="1279361"/>
            <a:ext cx="85205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myFunction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2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PH" sz="2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       	</a:t>
            </a:r>
            <a:r>
              <a:rPr lang="en-PH" sz="2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var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myFunction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8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	</a:t>
            </a:r>
            <a:r>
              <a:rPr lang="en-PH" sz="28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8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8 (3 + 5)</a:t>
            </a:r>
            <a:endParaRPr lang="en-PH" sz="2000" dirty="0">
              <a:solidFill>
                <a:srgbClr val="999999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0808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36B2B252-02BB-A4DC-D04C-1935FCAA9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9CA1A0FD-D8B5-F538-5332-4480A199D0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Function with return (Shorter Syntax)</a:t>
            </a:r>
            <a:endParaRPr sz="3300"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F7863958-7405-EE45-0005-8C21127D87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D3B839-8218-12E4-59BD-440567A40916}"/>
              </a:ext>
            </a:extLst>
          </p:cNvPr>
          <p:cNvSpPr txBox="1"/>
          <p:nvPr/>
        </p:nvSpPr>
        <p:spPr>
          <a:xfrm>
            <a:off x="311701" y="1279361"/>
            <a:ext cx="85205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myFunction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2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PH" sz="2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800" dirty="0">
                <a:solidFill>
                  <a:srgbClr val="9A6E3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PH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sz="2800" dirty="0">
                <a:solidFill>
                  <a:srgbClr val="9A6E3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PH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</a:p>
          <a:p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var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myFunction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8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8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	</a:t>
            </a:r>
            <a:r>
              <a:rPr lang="en-PH" sz="28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PH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8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8 (3 + 5)</a:t>
            </a:r>
            <a:endParaRPr lang="en-PH" sz="2000" dirty="0">
              <a:solidFill>
                <a:srgbClr val="999999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7347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>
          <a:extLst>
            <a:ext uri="{FF2B5EF4-FFF2-40B4-BE49-F238E27FC236}">
              <a16:creationId xmlns:a16="http://schemas.microsoft.com/office/drawing/2014/main" id="{4A17BCDB-CE81-5E65-2113-B490FFA12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4">
            <a:extLst>
              <a:ext uri="{FF2B5EF4-FFF2-40B4-BE49-F238E27FC236}">
                <a16:creationId xmlns:a16="http://schemas.microsoft.com/office/drawing/2014/main" id="{81394141-BC3F-04FF-0BFB-8F206DA3D4F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1874796"/>
            <a:ext cx="8520600" cy="80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Kotlin OOP</a:t>
            </a:r>
            <a:endParaRPr dirty="0"/>
          </a:p>
        </p:txBody>
      </p:sp>
      <p:sp>
        <p:nvSpPr>
          <p:cNvPr id="281" name="Google Shape;281;p54">
            <a:extLst>
              <a:ext uri="{FF2B5EF4-FFF2-40B4-BE49-F238E27FC236}">
                <a16:creationId xmlns:a16="http://schemas.microsoft.com/office/drawing/2014/main" id="{F164FDBD-44D6-5566-C61A-5EA095962F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44817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164A79F3-5C37-F53C-3B50-E3F495BD2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8874650D-F7BF-BDDA-8F11-962551AE37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Create a Class</a:t>
            </a:r>
            <a:endParaRPr sz="3300"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1D10DDBE-A4C9-C19F-B554-7073545AFE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9E4C28-E4C2-4532-5BB1-51F9B836C361}"/>
              </a:ext>
            </a:extLst>
          </p:cNvPr>
          <p:cNvSpPr txBox="1"/>
          <p:nvPr/>
        </p:nvSpPr>
        <p:spPr>
          <a:xfrm>
            <a:off x="311701" y="1279361"/>
            <a:ext cx="8520599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1"/>
            <a:r>
              <a:rPr lang="en-PH" sz="25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var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brand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""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1"/>
            <a:r>
              <a:rPr lang="en-PH" sz="25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var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""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1"/>
            <a:r>
              <a:rPr lang="en-PH" sz="25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var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year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PH" sz="25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5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990025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F3BCE01A-2492-7069-C32B-5863C56D1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08ACC821-AB74-E90D-EAA1-B1BFF9D81B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Create an Object</a:t>
            </a:r>
            <a:endParaRPr sz="3300"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F4767E16-EB75-451C-9F7B-75E32B0D8B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6512C9-7359-579B-122D-E50455A430A9}"/>
              </a:ext>
            </a:extLst>
          </p:cNvPr>
          <p:cNvSpPr txBox="1"/>
          <p:nvPr/>
        </p:nvSpPr>
        <p:spPr>
          <a:xfrm>
            <a:off x="311701" y="1279361"/>
            <a:ext cx="8520599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2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Create a c1 object of the Car class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200" dirty="0" err="1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c1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Car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Access the properties and add some values to it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endParaRPr lang="en-PH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PH" sz="2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c1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2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brand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"Ford"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c1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2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"Mustang”</a:t>
            </a:r>
          </a:p>
          <a:p>
            <a:r>
              <a:rPr lang="en-PH" sz="2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c1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2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year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1969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endParaRPr lang="en-PH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PH" sz="22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c1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2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brand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Outputs Ford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2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c1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2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Outputs Mustang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22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2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c1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2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year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22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Outputs 1969</a:t>
            </a:r>
            <a:endParaRPr lang="en-PH" sz="2200" dirty="0">
              <a:solidFill>
                <a:srgbClr val="999999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145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FC14B0AD-EFDD-CA24-3DFA-53C2FE66B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1A6698F8-BA28-642F-E8B6-D1FDC44F62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Create an Object</a:t>
            </a:r>
            <a:endParaRPr sz="3300"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BAF5531C-FBB9-1015-D138-7C93C13DD2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76ED3D-0273-9754-6626-A6F5F51E7AC5}"/>
              </a:ext>
            </a:extLst>
          </p:cNvPr>
          <p:cNvSpPr txBox="1"/>
          <p:nvPr/>
        </p:nvSpPr>
        <p:spPr>
          <a:xfrm>
            <a:off x="311701" y="1279361"/>
            <a:ext cx="85205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brand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""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1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var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""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1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var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year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endParaRPr lang="en-PH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PH" sz="1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2"/>
            <a:r>
              <a:rPr lang="en-PH" sz="1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 err="1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c1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Car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lvl="2"/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c1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brand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"Ford"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2"/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c1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"Mustang"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2"/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c1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year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1969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140068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80F5AE54-8DF0-D14B-1CD2-F3A881DB1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D707661C-EDC7-2453-3361-BC780CD925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Constructor</a:t>
            </a:r>
            <a:endParaRPr sz="3300"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71B3DE30-0DD0-8483-11A6-45E30CF5D3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26BAD4-402E-876D-8D3F-24F844A56176}"/>
              </a:ext>
            </a:extLst>
          </p:cNvPr>
          <p:cNvSpPr txBox="1"/>
          <p:nvPr/>
        </p:nvSpPr>
        <p:spPr>
          <a:xfrm>
            <a:off x="311701" y="1279361"/>
            <a:ext cx="85205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Car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brand</a:t>
            </a:r>
            <a:r>
              <a:rPr lang="en-PH" sz="1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</a:t>
            </a:r>
            <a:r>
              <a:rPr lang="en-PH" sz="1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year</a:t>
            </a:r>
            <a:r>
              <a:rPr lang="en-PH" sz="1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endParaRPr lang="en-PH" sz="1800" dirty="0">
              <a:solidFill>
                <a:srgbClr val="0077AA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PH" sz="1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1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1800" dirty="0" err="1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c1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Car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8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"Ford"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"Mustang"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1969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1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1800" dirty="0" err="1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c2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Car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8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"BMW"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"X5"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1999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1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PH" sz="1800" dirty="0" err="1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c3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Car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8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"Tesla"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"Model S"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2020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733747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2D535ABF-8A85-1E11-1E7F-8003E2EAD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EE8854BC-8D0F-5720-006C-F64627E4BA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Class Functions</a:t>
            </a:r>
            <a:endParaRPr sz="3300"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34528D64-8FB6-4387-A7CE-588517095B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7D5F69-9824-0B80-479B-D531F04B39DB}"/>
              </a:ext>
            </a:extLst>
          </p:cNvPr>
          <p:cNvSpPr txBox="1"/>
          <p:nvPr/>
        </p:nvSpPr>
        <p:spPr>
          <a:xfrm>
            <a:off x="311701" y="1279361"/>
            <a:ext cx="852059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Car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brand</a:t>
            </a:r>
            <a:r>
              <a:rPr lang="en-PH" sz="1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</a:t>
            </a:r>
            <a:r>
              <a:rPr lang="en-PH" sz="1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year</a:t>
            </a:r>
            <a:r>
              <a:rPr lang="en-PH" sz="1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endParaRPr lang="en-PH" sz="1800" dirty="0">
              <a:solidFill>
                <a:srgbClr val="0077AA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lang="en-PH" sz="1800" dirty="0">
                <a:solidFill>
                  <a:srgbClr val="0077A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drive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2"/>
            <a:r>
              <a:rPr lang="en-PH" sz="1800" dirty="0">
                <a:solidFill>
                  <a:srgbClr val="DD4A6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PH" sz="1800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8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PH" sz="1800" dirty="0" err="1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Wrooom</a:t>
            </a:r>
            <a:r>
              <a:rPr lang="en-PH" sz="18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!"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2"/>
            <a:r>
              <a:rPr lang="en-PH" sz="1800" dirty="0">
                <a:solidFill>
                  <a:srgbClr val="9999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2"/>
            <a:endParaRPr lang="en-PH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endParaRPr lang="en-PH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PH" sz="1800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1800" dirty="0">
                <a:solidFill>
                  <a:srgbClr val="0077A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PH" sz="1800" dirty="0" err="1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c1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Car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sz="18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"Ford"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6699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"Mustang"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1969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sz="1800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Call the function</a:t>
            </a:r>
            <a:r>
              <a:rPr lang="en-PH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</a:t>
            </a:r>
          </a:p>
          <a:p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c1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sz="1800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drive</a:t>
            </a:r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PH" sz="1800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301214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5">
          <a:extLst>
            <a:ext uri="{FF2B5EF4-FFF2-40B4-BE49-F238E27FC236}">
              <a16:creationId xmlns:a16="http://schemas.microsoft.com/office/drawing/2014/main" id="{44756EC0-D0B8-4303-046C-9C2A2C2B8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>
            <a:extLst>
              <a:ext uri="{FF2B5EF4-FFF2-40B4-BE49-F238E27FC236}">
                <a16:creationId xmlns:a16="http://schemas.microsoft.com/office/drawing/2014/main" id="{7E1CE23C-F366-1EC6-BE1F-0537A05E7B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Class Functions</a:t>
            </a:r>
            <a:endParaRPr sz="3300" dirty="0">
              <a:solidFill>
                <a:srgbClr val="FFFFFF"/>
              </a:solidFill>
            </a:endParaRPr>
          </a:p>
        </p:txBody>
      </p:sp>
      <p:sp>
        <p:nvSpPr>
          <p:cNvPr id="307" name="Google Shape;307;p58">
            <a:extLst>
              <a:ext uri="{FF2B5EF4-FFF2-40B4-BE49-F238E27FC236}">
                <a16:creationId xmlns:a16="http://schemas.microsoft.com/office/drawing/2014/main" id="{68526C42-6BC2-C1B1-7CAE-433DB5903E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02F45B-FE99-6ED4-BDBF-CCF87F84A93D}"/>
              </a:ext>
            </a:extLst>
          </p:cNvPr>
          <p:cNvSpPr txBox="1"/>
          <p:nvPr/>
        </p:nvSpPr>
        <p:spPr>
          <a:xfrm>
            <a:off x="311701" y="1279361"/>
            <a:ext cx="852059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Superclass</a:t>
            </a:r>
            <a:br>
              <a:rPr lang="en-PH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PH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open class </a:t>
            </a:r>
            <a:r>
              <a:rPr lang="en-PH" dirty="0" err="1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MyParentClass</a:t>
            </a:r>
            <a:r>
              <a:rPr lang="en-PH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dirty="0">
                <a:solidFill>
                  <a:srgbClr val="0077A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PH" dirty="0" err="1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dirty="0">
                <a:solidFill>
                  <a:srgbClr val="99005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endParaRPr lang="en-PH" dirty="0">
              <a:solidFill>
                <a:srgbClr val="70809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PH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Subclass</a:t>
            </a:r>
          </a:p>
          <a:p>
            <a:r>
              <a:rPr lang="en-PH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MyChildClass</a:t>
            </a:r>
            <a:r>
              <a:rPr lang="en-PH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MyParentClass</a:t>
            </a:r>
            <a:r>
              <a:rPr lang="en-PH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dirty="0">
                <a:solidFill>
                  <a:srgbClr val="0077A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PH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myFunction</a:t>
            </a:r>
            <a:r>
              <a:rPr lang="en-PH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PH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PH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PH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x is now inherited from the superclass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}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endParaRPr lang="en-PH" dirty="0">
              <a:solidFill>
                <a:srgbClr val="70809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PH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Create an object of </a:t>
            </a:r>
            <a:r>
              <a:rPr lang="en-PH" dirty="0" err="1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MyChildClass</a:t>
            </a:r>
            <a:r>
              <a:rPr lang="en-PH" dirty="0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and call </a:t>
            </a:r>
            <a:r>
              <a:rPr lang="en-PH" dirty="0" err="1">
                <a:solidFill>
                  <a:srgbClr val="70809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myFunction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dirty="0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dirty="0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PH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dirty="0">
                <a:solidFill>
                  <a:srgbClr val="0077A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PH" dirty="0" err="1">
                <a:solidFill>
                  <a:srgbClr val="0077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myObj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dirty="0">
                <a:solidFill>
                  <a:srgbClr val="9A6E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PH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MyChildClass</a:t>
            </a:r>
            <a:r>
              <a:rPr lang="en-PH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PH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myObj</a:t>
            </a:r>
            <a:r>
              <a:rPr lang="en-PH" dirty="0" err="1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PH" dirty="0" err="1">
                <a:solidFill>
                  <a:srgbClr val="DD4A6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myFunction</a:t>
            </a:r>
            <a:r>
              <a:rPr lang="en-PH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PH" dirty="0">
                <a:solidFill>
                  <a:srgbClr val="9999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PH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PH" dirty="0">
              <a:solidFill>
                <a:srgbClr val="999999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0208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>
          <a:extLst>
            <a:ext uri="{FF2B5EF4-FFF2-40B4-BE49-F238E27FC236}">
              <a16:creationId xmlns:a16="http://schemas.microsoft.com/office/drawing/2014/main" id="{CA0D00E3-650A-D371-0F10-57847EA7C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7">
            <a:extLst>
              <a:ext uri="{FF2B5EF4-FFF2-40B4-BE49-F238E27FC236}">
                <a16:creationId xmlns:a16="http://schemas.microsoft.com/office/drawing/2014/main" id="{6108DF47-A6BE-135B-E4D6-D62311F40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00" name="Google Shape;300;p57">
            <a:extLst>
              <a:ext uri="{FF2B5EF4-FFF2-40B4-BE49-F238E27FC236}">
                <a16:creationId xmlns:a16="http://schemas.microsoft.com/office/drawing/2014/main" id="{AE52B5A5-610A-2C81-EE56-08D43E88C1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  <p:sp>
        <p:nvSpPr>
          <p:cNvPr id="301" name="Google Shape;301;p57">
            <a:extLst>
              <a:ext uri="{FF2B5EF4-FFF2-40B4-BE49-F238E27FC236}">
                <a16:creationId xmlns:a16="http://schemas.microsoft.com/office/drawing/2014/main" id="{83D2A4D7-3ABA-C450-1222-BE3004453F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76274"/>
            <a:ext cx="8520600" cy="39807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PH" sz="2200" dirty="0">
                <a:hlinkClick r:id="rId3"/>
              </a:rPr>
              <a:t>https://kotlinlang.org/docs/home.html</a:t>
            </a:r>
            <a:endParaRPr lang="en-PH" sz="2200" dirty="0"/>
          </a:p>
          <a:p>
            <a:pPr algn="l">
              <a:buFont typeface="Arial" panose="020B0604020202020204" pitchFamily="34" charset="0"/>
              <a:buChar char="•"/>
            </a:pPr>
            <a:endParaRPr lang="en-PH" sz="22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PH" sz="2200" dirty="0">
                <a:hlinkClick r:id="rId4"/>
              </a:rPr>
              <a:t>https://www.w3schools.com/KOTLIN/index.php</a:t>
            </a:r>
            <a:endParaRPr lang="en-PH" sz="2200" dirty="0"/>
          </a:p>
          <a:p>
            <a:pPr algn="l">
              <a:buFont typeface="Arial" panose="020B0604020202020204" pitchFamily="34" charset="0"/>
              <a:buChar char="•"/>
            </a:pPr>
            <a:endParaRPr lang="en-PH" sz="2200" dirty="0"/>
          </a:p>
        </p:txBody>
      </p:sp>
    </p:spTree>
    <p:extLst>
      <p:ext uri="{BB962C8B-B14F-4D97-AF65-F5344CB8AC3E}">
        <p14:creationId xmlns:p14="http://schemas.microsoft.com/office/powerpoint/2010/main" val="21877225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9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END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61" name="Google Shape;661;p9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E22A5FA3A2044CB9CD88DCBEA97603" ma:contentTypeVersion="14" ma:contentTypeDescription="Create a new document." ma:contentTypeScope="" ma:versionID="add9614137543b78dcbd012fba14612c">
  <xsd:schema xmlns:xsd="http://www.w3.org/2001/XMLSchema" xmlns:xs="http://www.w3.org/2001/XMLSchema" xmlns:p="http://schemas.microsoft.com/office/2006/metadata/properties" xmlns:ns2="9a780629-4d19-4bb9-9056-9a589cd4d271" xmlns:ns3="6de439ce-b7a3-4fe1-9235-7bacf5677901" targetNamespace="http://schemas.microsoft.com/office/2006/metadata/properties" ma:root="true" ma:fieldsID="ff15d42874a67466ae73f4094a57046d" ns2:_="" ns3:_="">
    <xsd:import namespace="9a780629-4d19-4bb9-9056-9a589cd4d271"/>
    <xsd:import namespace="6de439ce-b7a3-4fe1-9235-7bacf56779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780629-4d19-4bb9-9056-9a589cd4d2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0475df7c-731a-48f9-b587-d0ce67fd34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e439ce-b7a3-4fe1-9235-7bacf5677901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7220bbd5-5dd0-4cc5-8ff1-a93b22e2889e}" ma:internalName="TaxCatchAll" ma:showField="CatchAllData" ma:web="6de439ce-b7a3-4fe1-9235-7bacf56779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e439ce-b7a3-4fe1-9235-7bacf5677901" xsi:nil="true"/>
    <lcf76f155ced4ddcb4097134ff3c332f xmlns="9a780629-4d19-4bb9-9056-9a589cd4d2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6806924-3F66-495A-A8C7-976E929A03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780629-4d19-4bb9-9056-9a589cd4d271"/>
    <ds:schemaRef ds:uri="6de439ce-b7a3-4fe1-9235-7bacf56779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D86C682-4AFF-4BAF-89CB-3E384EAB8F9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9D2C64-633B-43FC-BB88-A88B446FB994}">
  <ds:schemaRefs>
    <ds:schemaRef ds:uri="http://schemas.microsoft.com/office/2006/metadata/properties"/>
    <ds:schemaRef ds:uri="http://schemas.microsoft.com/office/infopath/2007/PartnerControls"/>
    <ds:schemaRef ds:uri="6de439ce-b7a3-4fe1-9235-7bacf5677901"/>
    <ds:schemaRef ds:uri="9a780629-4d19-4bb9-9056-9a589cd4d27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1512</Words>
  <Application>Microsoft Macintosh PowerPoint</Application>
  <PresentationFormat>On-screen Show (16:9)</PresentationFormat>
  <Paragraphs>319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Consolas</vt:lpstr>
      <vt:lpstr>Roboto</vt:lpstr>
      <vt:lpstr>GDT master</vt:lpstr>
      <vt:lpstr>GDT master</vt:lpstr>
      <vt:lpstr>Introduction to Kotlin</vt:lpstr>
      <vt:lpstr>Contents</vt:lpstr>
      <vt:lpstr>What is Kotlin?</vt:lpstr>
      <vt:lpstr>What is Kotlin?</vt:lpstr>
      <vt:lpstr>What is Kotlin?</vt:lpstr>
      <vt:lpstr>Basics</vt:lpstr>
      <vt:lpstr>Printing</vt:lpstr>
      <vt:lpstr>Comments</vt:lpstr>
      <vt:lpstr>Multi-line comments</vt:lpstr>
      <vt:lpstr>Variables</vt:lpstr>
      <vt:lpstr>Specifying Variable Type</vt:lpstr>
      <vt:lpstr>Data Types</vt:lpstr>
      <vt:lpstr>Operators</vt:lpstr>
      <vt:lpstr>Boolean</vt:lpstr>
      <vt:lpstr>Boolean Expression</vt:lpstr>
      <vt:lpstr>Conditional Statements</vt:lpstr>
      <vt:lpstr>If..Else</vt:lpstr>
      <vt:lpstr>If..Else</vt:lpstr>
      <vt:lpstr>If..Else</vt:lpstr>
      <vt:lpstr>when (switch in Java)</vt:lpstr>
      <vt:lpstr>while loop</vt:lpstr>
      <vt:lpstr>do while loop</vt:lpstr>
      <vt:lpstr>break statement</vt:lpstr>
      <vt:lpstr>continue statement</vt:lpstr>
      <vt:lpstr>Arrays</vt:lpstr>
      <vt:lpstr>For Loop</vt:lpstr>
      <vt:lpstr>Range</vt:lpstr>
      <vt:lpstr>Range</vt:lpstr>
      <vt:lpstr>Functions</vt:lpstr>
      <vt:lpstr>Functions</vt:lpstr>
      <vt:lpstr>Function with Parameters</vt:lpstr>
      <vt:lpstr>Function with Multiple Parameters</vt:lpstr>
      <vt:lpstr>Function with return</vt:lpstr>
      <vt:lpstr>Function with return (Shorter Syntax)</vt:lpstr>
      <vt:lpstr>Kotlin OOP</vt:lpstr>
      <vt:lpstr>Create a Class</vt:lpstr>
      <vt:lpstr>Create an Object</vt:lpstr>
      <vt:lpstr>Create an Object</vt:lpstr>
      <vt:lpstr>Constructor</vt:lpstr>
      <vt:lpstr>Class Functions</vt:lpstr>
      <vt:lpstr>Class Functions</vt:lpstr>
      <vt:lpstr>References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Activities and Intents</dc:title>
  <cp:lastModifiedBy>Elizer Jr. D. Ponio</cp:lastModifiedBy>
  <cp:revision>198</cp:revision>
  <dcterms:modified xsi:type="dcterms:W3CDTF">2025-03-28T06:57:21Z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0x0101000BE22A5FA3A2044CB9CD88DCBEA97603</vt:lpwstr>
  </property>
  <property fmtid="{D5CDD505-2E9C-101B-9397-08002B2CF9AE}" pid="3" name="MediaServiceImageTags">
    <vt:lpwstr/>
  </property>
  <property fmtid="{D5CDD505-2E9C-101B-9397-08002B2CF9AE}" pid="4" name="MSIP_Label_8a813f4b-519a-4481-a498-85770f517757_Enabled">
    <vt:lpwstr>true</vt:lpwstr>
  </property>
  <property fmtid="{D5CDD505-2E9C-101B-9397-08002B2CF9AE}" pid="5" name="MSIP_Label_8a813f4b-519a-4481-a498-85770f517757_SetDate">
    <vt:lpwstr>2025-03-28T05:35:30Z</vt:lpwstr>
  </property>
  <property fmtid="{D5CDD505-2E9C-101B-9397-08002B2CF9AE}" pid="6" name="MSIP_Label_8a813f4b-519a-4481-a498-85770f517757_Method">
    <vt:lpwstr>Standard</vt:lpwstr>
  </property>
  <property fmtid="{D5CDD505-2E9C-101B-9397-08002B2CF9AE}" pid="7" name="MSIP_Label_8a813f4b-519a-4481-a498-85770f517757_Name">
    <vt:lpwstr>Anyone (unrestricted)</vt:lpwstr>
  </property>
  <property fmtid="{D5CDD505-2E9C-101B-9397-08002B2CF9AE}" pid="8" name="MSIP_Label_8a813f4b-519a-4481-a498-85770f517757_SiteId">
    <vt:lpwstr>1d981f77-3ca3-46ae-b0d4-e8044e6c7f84</vt:lpwstr>
  </property>
  <property fmtid="{D5CDD505-2E9C-101B-9397-08002B2CF9AE}" pid="9" name="MSIP_Label_8a813f4b-519a-4481-a498-85770f517757_ActionId">
    <vt:lpwstr>84766d0d-34d9-49b2-b2c2-cae2aa6bef6c</vt:lpwstr>
  </property>
  <property fmtid="{D5CDD505-2E9C-101B-9397-08002B2CF9AE}" pid="10" name="MSIP_Label_8a813f4b-519a-4481-a498-85770f517757_ContentBits">
    <vt:lpwstr>0</vt:lpwstr>
  </property>
</Properties>
</file>